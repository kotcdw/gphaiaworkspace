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baa3c05-c23c-9613-6f9e-fc75ff3971b3}">
          <p14:sldIdLst>
            <p14:sldId id="256"/>
            <p14:sldId id="257"/>
            <p14:sldId id="258"/>
            <p14:sldId id="259"/>
          </p14:sldIdLst>
        </p14:section>
        <p14:section name="Who does what" id="{db3084cb-25a1-1a85-72d3-1cd48af6003f}">
          <p14:sldIdLst>
            <p14:sldId id="260"/>
            <p14:sldId id="261"/>
            <p14:sldId id="262"/>
            <p14:sldId id="263"/>
            <p14:sldId id="264"/>
          </p14:sldIdLst>
        </p14:section>
        <p14:section name="Getting started" id="{d5fae000-890f-f99a-68a8-5390acdf8965}">
          <p14:sldIdLst>
            <p14:sldId id="265"/>
            <p14:sldId id="266"/>
            <p14:sldId id="267"/>
            <p14:sldId id="268"/>
          </p14:sldIdLst>
        </p14:section>
        <p14:section name="Plan the year" id="{b15e439e-dacf-e30c-9e39-f2f84ca08232}">
          <p14:sldIdLst>
            <p14:sldId id="269"/>
            <p14:sldId id="270"/>
            <p14:sldId id="271"/>
            <p14:sldId id="272"/>
          </p14:sldIdLst>
        </p14:section>
        <p14:section name="Perform the audit" id="{08a6d68d-dbb3-44cc-bd82-cbaa73500bb3}">
          <p14:sldIdLst>
            <p14:sldId id="273"/>
            <p14:sldId id="274"/>
            <p14:sldId id="275"/>
            <p14:sldId id="276"/>
            <p14:sldId id="277"/>
          </p14:sldIdLst>
        </p14:section>
        <p14:section name="Report and follow up" id="{b94080f9-1085-537e-94db-88737c4c8003}">
          <p14:sldIdLst>
            <p14:sldId id="278"/>
            <p14:sldId id="279"/>
            <p14:sldId id="280"/>
            <p14:sldId id="281"/>
          </p14:sldIdLst>
        </p14:section>
        <p14:section name="Governance and quality" id="{45430586-c7d5-6d14-64c7-1da446d2d14c}">
          <p14:sldIdLst>
            <p14:sldId id="282"/>
            <p14:sldId id="283"/>
            <p14:sldId id="284"/>
          </p14:sldIdLst>
        </p14:section>
        <p14:section name="Auditees and quick reference" id="{fb61684f-fe03-e5b3-7bbc-7e19ebe0653a}">
          <p14:sldIdLst>
            <p14:sldId id="285"/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Companion to docs/Usermanual.docx. Each slide points to the chapter of the Word manual that gives the full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IAW_TITLE">
    <p:bg>
      <p:bgPr>
        <a:solidFill>
          <a:srgbClr val="0B2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IAW_SECTION">
    <p:bg>
      <p:bgPr>
        <a:solidFill>
          <a:srgbClr val="1F4E9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IAW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GPHA Internal Audit Workspace · User Manual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GIAW User Manual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How the GPHA Internal Audit Workspace works and how each user works in it · Version 3.0, October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GIAW holds the whole internal audit cycle in one place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417320"/>
            <a:ext cx="2651760" cy="35661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288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468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Auditors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898648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Plan and perform audits: memo, risks and controls, tests, evidence, findings and the report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355848" y="1417320"/>
            <a:ext cx="2651760" cy="35661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30168" y="16916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328" y="18288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30168" y="2468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Managers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630168" y="2898648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Annual plan, teams, reviews and sign-offs, report approval, follow-up and dashboards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163056" y="1417320"/>
            <a:ext cx="2651760" cy="35661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37376" y="16916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36" y="182880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37376" y="2468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Auditees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437376" y="2898648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list of what Internal Audit needs, with a button for each item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8970264" y="1417320"/>
            <a:ext cx="2651760" cy="35661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244584" y="16916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1744" y="182880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244584" y="2468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Audit Committee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9244584" y="2898648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Meeting packs, decisions on recommendations and risk acceptances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Aligned with the IIA Global Internal Audit Standards, Act 658, Act 921 and L.I. 1994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GIAW works: nine stages, each feeding the next</a:t>
            </a:r>
            <a:endParaRPr lang="en-US" sz="3200" dirty="0"/>
          </a:p>
        </p:txBody>
      </p:sp>
      <p:sp>
        <p:nvSpPr>
          <p:cNvPr id="3" name="flow1"/>
          <p:cNvSpPr/>
          <p:nvPr/>
        </p:nvSpPr>
        <p:spPr>
          <a:xfrm>
            <a:off x="548640" y="1371600"/>
            <a:ext cx="2087209" cy="1691640"/>
          </a:xfrm>
          <a:prstGeom prst="roundRect">
            <a:avLst>
              <a:gd name="adj" fmla="val 540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508760"/>
            <a:ext cx="18677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Universe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057400"/>
            <a:ext cx="186775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Define auditable entities</a:t>
            </a:r>
            <a:endParaRPr lang="en-US" sz="1300" dirty="0"/>
          </a:p>
        </p:txBody>
      </p:sp>
      <p:sp>
        <p:nvSpPr>
          <p:cNvPr id="6" name="flow2"/>
          <p:cNvSpPr/>
          <p:nvPr/>
        </p:nvSpPr>
        <p:spPr>
          <a:xfrm>
            <a:off x="2800441" y="1371600"/>
            <a:ext cx="2087209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10169" y="1508760"/>
            <a:ext cx="18677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Assurance map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910169" y="2057400"/>
            <a:ext cx="186775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Other providers</a:t>
            </a:r>
            <a:endParaRPr lang="en-US" sz="1300" dirty="0"/>
          </a:p>
        </p:txBody>
      </p:sp>
      <p:sp>
        <p:nvSpPr>
          <p:cNvPr id="9" name="flow3"/>
          <p:cNvSpPr/>
          <p:nvPr/>
        </p:nvSpPr>
        <p:spPr>
          <a:xfrm>
            <a:off x="5052243" y="1371600"/>
            <a:ext cx="2087209" cy="1691640"/>
          </a:xfrm>
          <a:prstGeom prst="roundRect">
            <a:avLst>
              <a:gd name="adj" fmla="val 540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61971" y="1508760"/>
            <a:ext cx="18677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Risk assessment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61971" y="2057400"/>
            <a:ext cx="186775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Score and rank</a:t>
            </a:r>
            <a:endParaRPr lang="en-US" sz="1300" dirty="0"/>
          </a:p>
        </p:txBody>
      </p:sp>
      <p:sp>
        <p:nvSpPr>
          <p:cNvPr id="12" name="flow4"/>
          <p:cNvSpPr/>
          <p:nvPr/>
        </p:nvSpPr>
        <p:spPr>
          <a:xfrm>
            <a:off x="7304044" y="1371600"/>
            <a:ext cx="2087209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13772" y="1508760"/>
            <a:ext cx="18677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Assurance Plan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413772" y="2057400"/>
            <a:ext cx="186775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Approve and distribute</a:t>
            </a:r>
            <a:endParaRPr lang="en-US" sz="1300" dirty="0"/>
          </a:p>
        </p:txBody>
      </p:sp>
      <p:sp>
        <p:nvSpPr>
          <p:cNvPr id="15" name="flow5"/>
          <p:cNvSpPr/>
          <p:nvPr/>
        </p:nvSpPr>
        <p:spPr>
          <a:xfrm>
            <a:off x="9555846" y="1371600"/>
            <a:ext cx="2087209" cy="1691640"/>
          </a:xfrm>
          <a:prstGeom prst="roundRect">
            <a:avLst>
              <a:gd name="adj" fmla="val 540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65574" y="1508760"/>
            <a:ext cx="18677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Engagement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665574" y="2057400"/>
            <a:ext cx="186775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Plan, perform, review</a:t>
            </a:r>
            <a:endParaRPr lang="en-US" sz="1300" dirty="0"/>
          </a:p>
        </p:txBody>
      </p:sp>
      <p:sp>
        <p:nvSpPr>
          <p:cNvPr id="18" name="flow1"/>
          <p:cNvSpPr/>
          <p:nvPr/>
        </p:nvSpPr>
        <p:spPr>
          <a:xfrm>
            <a:off x="548640" y="3154680"/>
            <a:ext cx="2650160" cy="1691640"/>
          </a:xfrm>
          <a:prstGeom prst="roundRect">
            <a:avLst>
              <a:gd name="adj" fmla="val 540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" y="3291840"/>
            <a:ext cx="2430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Report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3840480"/>
            <a:ext cx="243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Review chain and issue</a:t>
            </a:r>
            <a:endParaRPr lang="en-US" sz="1300" dirty="0"/>
          </a:p>
        </p:txBody>
      </p:sp>
      <p:sp>
        <p:nvSpPr>
          <p:cNvPr id="21" name="flow2"/>
          <p:cNvSpPr/>
          <p:nvPr/>
        </p:nvSpPr>
        <p:spPr>
          <a:xfrm>
            <a:off x="3363392" y="3154680"/>
            <a:ext cx="265016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73120" y="3291840"/>
            <a:ext cx="2430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Follow-up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473120" y="3840480"/>
            <a:ext cx="243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Implement and validate</a:t>
            </a:r>
            <a:endParaRPr lang="en-US" sz="1300" dirty="0"/>
          </a:p>
        </p:txBody>
      </p:sp>
      <p:sp>
        <p:nvSpPr>
          <p:cNvPr id="24" name="flow3"/>
          <p:cNvSpPr/>
          <p:nvPr/>
        </p:nvSpPr>
        <p:spPr>
          <a:xfrm>
            <a:off x="6178144" y="3154680"/>
            <a:ext cx="2650160" cy="1691640"/>
          </a:xfrm>
          <a:prstGeom prst="roundRect">
            <a:avLst>
              <a:gd name="adj" fmla="val 540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87872" y="3291840"/>
            <a:ext cx="2430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Reporting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287872" y="3840480"/>
            <a:ext cx="243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Committee and IAA</a:t>
            </a:r>
            <a:endParaRPr lang="en-US" sz="1300" dirty="0"/>
          </a:p>
        </p:txBody>
      </p:sp>
      <p:sp>
        <p:nvSpPr>
          <p:cNvPr id="27" name="flow4"/>
          <p:cNvSpPr/>
          <p:nvPr/>
        </p:nvSpPr>
        <p:spPr>
          <a:xfrm>
            <a:off x="8992895" y="3154680"/>
            <a:ext cx="265016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02623" y="3291840"/>
            <a:ext cx="2430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Quality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102623" y="3840480"/>
            <a:ext cx="243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QAIP and practice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Information is entered once and reused: the plan comes from the risk assessment, the report from the findings, the follow-up from the agreed actions.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Controls built into every step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85800" cy="6858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572768"/>
            <a:ext cx="374904" cy="3749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4173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Roles and permissions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80136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You see only the apps, records and buttons your role allows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17920" y="1417320"/>
            <a:ext cx="685800" cy="6858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1572768"/>
            <a:ext cx="374904" cy="37490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132320" y="14173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Segregation of duties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7132320" y="180136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Nobody reviews, approves or closes their own work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2880360"/>
            <a:ext cx="685800" cy="6858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035808"/>
            <a:ext cx="374904" cy="37490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63040" y="2880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Electronic signatures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463040" y="326440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Approvals record who, what, when and the comment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217920" y="2880360"/>
            <a:ext cx="685800" cy="6858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368" y="3035808"/>
            <a:ext cx="374904" cy="37490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132320" y="2880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Gates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7132320" y="326440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Fieldwork waits for the approved memo and declarations; closure waits for every check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548640" y="4343400"/>
            <a:ext cx="685800" cy="6858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4498848"/>
            <a:ext cx="374904" cy="37490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463040" y="4343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Unchangeable history</a:t>
            </a:r>
            <a:endParaRPr lang="en-US" sz="1800" dirty="0"/>
          </a:p>
        </p:txBody>
      </p:sp>
      <p:sp>
        <p:nvSpPr>
          <p:cNvPr id="22" name="Text 15"/>
          <p:cNvSpPr txBox="1"/>
          <p:nvPr/>
        </p:nvSpPr>
        <p:spPr>
          <a:xfrm>
            <a:off x="1463040" y="472744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Record history, activity logs and follow-up timelines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6217920" y="4343400"/>
            <a:ext cx="685800" cy="6858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368" y="4498848"/>
            <a:ext cx="374904" cy="374904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132320" y="4343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Never-lost forms</a:t>
            </a:r>
            <a:endParaRPr lang="en-US" sz="1800" dirty="0"/>
          </a:p>
        </p:txBody>
      </p:sp>
      <p:sp>
        <p:nvSpPr>
          <p:cNvPr id="26" name="Text 18"/>
          <p:cNvSpPr txBox="1"/>
          <p:nvPr/>
        </p:nvSpPr>
        <p:spPr>
          <a:xfrm>
            <a:off x="7132320" y="472744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Panels stay open; drafts save as you type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does what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The assignment, review, report and follow-up chains · Manual chapter 2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 chain: how work reaches people</a:t>
            </a:r>
            <a:endParaRPr lang="en-US" sz="3200" dirty="0"/>
          </a:p>
        </p:txBody>
      </p:sp>
      <p:sp>
        <p:nvSpPr>
          <p:cNvPr id="3" name="flow1"/>
          <p:cNvSpPr/>
          <p:nvPr/>
        </p:nvSpPr>
        <p:spPr>
          <a:xfrm>
            <a:off x="548640" y="1463040"/>
            <a:ext cx="2087209" cy="1691640"/>
          </a:xfrm>
          <a:prstGeom prst="roundRect">
            <a:avLst>
              <a:gd name="adj" fmla="val 540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600200"/>
            <a:ext cx="18677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Plan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148840"/>
            <a:ext cx="186775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Planner names the Lead auditor on each engagement</a:t>
            </a:r>
            <a:endParaRPr lang="en-US" sz="1300" dirty="0"/>
          </a:p>
        </p:txBody>
      </p:sp>
      <p:sp>
        <p:nvSpPr>
          <p:cNvPr id="6" name="flow2"/>
          <p:cNvSpPr/>
          <p:nvPr/>
        </p:nvSpPr>
        <p:spPr>
          <a:xfrm>
            <a:off x="2800441" y="1463040"/>
            <a:ext cx="2087209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10169" y="1600200"/>
            <a:ext cx="18677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Start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910169" y="2148840"/>
            <a:ext cx="186775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Audit created; lead and starter join the team</a:t>
            </a:r>
            <a:endParaRPr lang="en-US" sz="1300" dirty="0"/>
          </a:p>
        </p:txBody>
      </p:sp>
      <p:sp>
        <p:nvSpPr>
          <p:cNvPr id="9" name="flow3"/>
          <p:cNvSpPr/>
          <p:nvPr/>
        </p:nvSpPr>
        <p:spPr>
          <a:xfrm>
            <a:off x="5052243" y="1463040"/>
            <a:ext cx="2087209" cy="1691640"/>
          </a:xfrm>
          <a:prstGeom prst="roundRect">
            <a:avLst>
              <a:gd name="adj" fmla="val 540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61971" y="1600200"/>
            <a:ext cx="18677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Team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61971" y="2148840"/>
            <a:ext cx="186775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Lead adds Auditors and Reviewers; auditees get access</a:t>
            </a:r>
            <a:endParaRPr lang="en-US" sz="1300" dirty="0"/>
          </a:p>
        </p:txBody>
      </p:sp>
      <p:sp>
        <p:nvSpPr>
          <p:cNvPr id="12" name="flow4"/>
          <p:cNvSpPr/>
          <p:nvPr/>
        </p:nvSpPr>
        <p:spPr>
          <a:xfrm>
            <a:off x="7304044" y="1463040"/>
            <a:ext cx="2087209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13772" y="1600200"/>
            <a:ext cx="18677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Work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413772" y="2148840"/>
            <a:ext cx="186775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Procedures and tests Assigned to team members</a:t>
            </a:r>
            <a:endParaRPr lang="en-US" sz="1300" dirty="0"/>
          </a:p>
        </p:txBody>
      </p:sp>
      <p:sp>
        <p:nvSpPr>
          <p:cNvPr id="15" name="flow5"/>
          <p:cNvSpPr/>
          <p:nvPr/>
        </p:nvSpPr>
        <p:spPr>
          <a:xfrm>
            <a:off x="9555846" y="1463040"/>
            <a:ext cx="2087209" cy="1691640"/>
          </a:xfrm>
          <a:prstGeom prst="roundRect">
            <a:avLst>
              <a:gd name="adj" fmla="val 540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65574" y="1600200"/>
            <a:ext cx="18677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Review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665574" y="2148840"/>
            <a:ext cx="186775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Preparer signs, names the Next Reviewer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474720"/>
            <a:ext cx="11064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Issue owners are notified when the issue is published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Action owners come from the issue owner or the Responsible officer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Evidence requests go to an auditee on Auditees with access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Everything assigned to you appears in My work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approval chain</a:t>
            </a:r>
            <a:endParaRPr lang="en-US" sz="3200" dirty="0"/>
          </a:p>
        </p:txBody>
      </p:sp>
      <p:sp>
        <p:nvSpPr>
          <p:cNvPr id="3" name="flow1"/>
          <p:cNvSpPr/>
          <p:nvPr/>
        </p:nvSpPr>
        <p:spPr>
          <a:xfrm>
            <a:off x="548640" y="1463040"/>
            <a:ext cx="1443838" cy="1691640"/>
          </a:xfrm>
          <a:prstGeom prst="roundRect">
            <a:avLst>
              <a:gd name="adj" fmla="val 6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600200"/>
            <a:ext cx="12243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Prepare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148840"/>
            <a:ext cx="12243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Checklist, universe review, managers' meeting</a:t>
            </a:r>
            <a:endParaRPr lang="en-US" sz="1300" dirty="0"/>
          </a:p>
        </p:txBody>
      </p:sp>
      <p:sp>
        <p:nvSpPr>
          <p:cNvPr id="6" name="flow2"/>
          <p:cNvSpPr/>
          <p:nvPr/>
        </p:nvSpPr>
        <p:spPr>
          <a:xfrm>
            <a:off x="2157070" y="1463040"/>
            <a:ext cx="1443838" cy="1691640"/>
          </a:xfrm>
          <a:prstGeom prst="roundRect">
            <a:avLst>
              <a:gd name="adj" fmla="val 633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66798" y="1600200"/>
            <a:ext cx="12243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Draft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266798" y="2148840"/>
            <a:ext cx="12243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Engagements; Submit for internal review</a:t>
            </a:r>
            <a:endParaRPr lang="en-US" sz="1300" dirty="0"/>
          </a:p>
        </p:txBody>
      </p:sp>
      <p:sp>
        <p:nvSpPr>
          <p:cNvPr id="9" name="flow3"/>
          <p:cNvSpPr/>
          <p:nvPr/>
        </p:nvSpPr>
        <p:spPr>
          <a:xfrm>
            <a:off x="3765499" y="1463040"/>
            <a:ext cx="1443838" cy="1691640"/>
          </a:xfrm>
          <a:prstGeom prst="roundRect">
            <a:avLst>
              <a:gd name="adj" fmla="val 6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75227" y="1600200"/>
            <a:ext cx="12243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GM Audit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875227" y="2148840"/>
            <a:ext cx="12243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Approve (e-sign) or Return with comments</a:t>
            </a:r>
            <a:endParaRPr lang="en-US" sz="1300" dirty="0"/>
          </a:p>
        </p:txBody>
      </p:sp>
      <p:sp>
        <p:nvSpPr>
          <p:cNvPr id="12" name="flow4"/>
          <p:cNvSpPr/>
          <p:nvPr/>
        </p:nvSpPr>
        <p:spPr>
          <a:xfrm>
            <a:off x="5373929" y="1463040"/>
            <a:ext cx="1443838" cy="1691640"/>
          </a:xfrm>
          <a:prstGeom prst="roundRect">
            <a:avLst>
              <a:gd name="adj" fmla="val 633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3657" y="1600200"/>
            <a:ext cx="12243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Committee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3657" y="2148840"/>
            <a:ext cx="12243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Record submission and decision; version frozen</a:t>
            </a:r>
            <a:endParaRPr lang="en-US" sz="1300" dirty="0"/>
          </a:p>
        </p:txBody>
      </p:sp>
      <p:sp>
        <p:nvSpPr>
          <p:cNvPr id="15" name="flow5"/>
          <p:cNvSpPr/>
          <p:nvPr/>
        </p:nvSpPr>
        <p:spPr>
          <a:xfrm>
            <a:off x="6982358" y="1463040"/>
            <a:ext cx="1443838" cy="1691640"/>
          </a:xfrm>
          <a:prstGeom prst="roundRect">
            <a:avLst>
              <a:gd name="adj" fmla="val 6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92086" y="1600200"/>
            <a:ext cx="12243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IAA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092086" y="2148840"/>
            <a:ext cx="12243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Record IAA submission</a:t>
            </a:r>
            <a:endParaRPr lang="en-US" sz="1300" dirty="0"/>
          </a:p>
        </p:txBody>
      </p:sp>
      <p:sp>
        <p:nvSpPr>
          <p:cNvPr id="18" name="flow6"/>
          <p:cNvSpPr/>
          <p:nvPr/>
        </p:nvSpPr>
        <p:spPr>
          <a:xfrm>
            <a:off x="8590788" y="1463040"/>
            <a:ext cx="1443838" cy="1691640"/>
          </a:xfrm>
          <a:prstGeom prst="roundRect">
            <a:avLst>
              <a:gd name="adj" fmla="val 633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700516" y="1600200"/>
            <a:ext cx="12243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Distribute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700516" y="2148840"/>
            <a:ext cx="12243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Sites acknowledge receipt</a:t>
            </a:r>
            <a:endParaRPr lang="en-US" sz="1300" dirty="0"/>
          </a:p>
        </p:txBody>
      </p:sp>
      <p:sp>
        <p:nvSpPr>
          <p:cNvPr id="21" name="flow7"/>
          <p:cNvSpPr/>
          <p:nvPr/>
        </p:nvSpPr>
        <p:spPr>
          <a:xfrm>
            <a:off x="10199218" y="1463040"/>
            <a:ext cx="1443838" cy="1691640"/>
          </a:xfrm>
          <a:prstGeom prst="roundRect">
            <a:avLst>
              <a:gd name="adj" fmla="val 6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308946" y="1600200"/>
            <a:ext cx="12243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Start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308946" y="2148840"/>
            <a:ext cx="12243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Engagements become audits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5204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Steps run in order. The preparer never approves. Changes after approval go through a plan change request: requester › another manager endorses › GM Audit signs › Committee for significant changes.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gates and the sign-off chain</a:t>
            </a:r>
            <a:endParaRPr lang="en-US" sz="3200" dirty="0"/>
          </a:p>
        </p:txBody>
      </p:sp>
      <p:sp>
        <p:nvSpPr>
          <p:cNvPr id="3" name="flow1"/>
          <p:cNvSpPr/>
          <p:nvPr/>
        </p:nvSpPr>
        <p:spPr>
          <a:xfrm>
            <a:off x="548640" y="1463040"/>
            <a:ext cx="1711909" cy="1691640"/>
          </a:xfrm>
          <a:prstGeom prst="roundRect">
            <a:avLst>
              <a:gd name="adj" fmla="val 540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600200"/>
            <a:ext cx="14924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Memo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148840"/>
            <a:ext cx="149245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Approved by Audit Manager, PIA or GM Audit</a:t>
            </a:r>
            <a:endParaRPr lang="en-US" sz="1300" dirty="0"/>
          </a:p>
        </p:txBody>
      </p:sp>
      <p:sp>
        <p:nvSpPr>
          <p:cNvPr id="6" name="flow2"/>
          <p:cNvSpPr/>
          <p:nvPr/>
        </p:nvSpPr>
        <p:spPr>
          <a:xfrm>
            <a:off x="2425141" y="1463040"/>
            <a:ext cx="1711909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34869" y="1600200"/>
            <a:ext cx="14924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Declarations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534869" y="2148840"/>
            <a:ext cx="149245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Every member: annual and engagement</a:t>
            </a:r>
            <a:endParaRPr lang="en-US" sz="1300" dirty="0"/>
          </a:p>
        </p:txBody>
      </p:sp>
      <p:sp>
        <p:nvSpPr>
          <p:cNvPr id="9" name="flow3"/>
          <p:cNvSpPr/>
          <p:nvPr/>
        </p:nvSpPr>
        <p:spPr>
          <a:xfrm>
            <a:off x="4301642" y="1463040"/>
            <a:ext cx="1711909" cy="1691640"/>
          </a:xfrm>
          <a:prstGeom prst="roundRect">
            <a:avLst>
              <a:gd name="adj" fmla="val 540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11370" y="1600200"/>
            <a:ext cx="14924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 Progress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411370" y="2148840"/>
            <a:ext cx="149245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Move to opens fieldwork</a:t>
            </a:r>
            <a:endParaRPr lang="en-US" sz="1300" dirty="0"/>
          </a:p>
        </p:txBody>
      </p:sp>
      <p:sp>
        <p:nvSpPr>
          <p:cNvPr id="12" name="flow4"/>
          <p:cNvSpPr/>
          <p:nvPr/>
        </p:nvSpPr>
        <p:spPr>
          <a:xfrm>
            <a:off x="6178144" y="1463040"/>
            <a:ext cx="1711909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87872" y="1600200"/>
            <a:ext cx="14924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Preparer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87872" y="2148840"/>
            <a:ext cx="149245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Sign-off; set Next Reviewer</a:t>
            </a:r>
            <a:endParaRPr lang="en-US" sz="1300" dirty="0"/>
          </a:p>
        </p:txBody>
      </p:sp>
      <p:sp>
        <p:nvSpPr>
          <p:cNvPr id="15" name="flow5"/>
          <p:cNvSpPr/>
          <p:nvPr/>
        </p:nvSpPr>
        <p:spPr>
          <a:xfrm>
            <a:off x="8054645" y="1463040"/>
            <a:ext cx="1711909" cy="1691640"/>
          </a:xfrm>
          <a:prstGeom prst="roundRect">
            <a:avLst>
              <a:gd name="adj" fmla="val 540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64373" y="1600200"/>
            <a:ext cx="14924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Reviewers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164373" y="2148840"/>
            <a:ext cx="149245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Detail, General and further levels</a:t>
            </a:r>
            <a:endParaRPr lang="en-US" sz="1300" dirty="0"/>
          </a:p>
        </p:txBody>
      </p:sp>
      <p:sp>
        <p:nvSpPr>
          <p:cNvPr id="18" name="flow6"/>
          <p:cNvSpPr/>
          <p:nvPr/>
        </p:nvSpPr>
        <p:spPr>
          <a:xfrm>
            <a:off x="9931146" y="1463040"/>
            <a:ext cx="1711909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40874" y="1600200"/>
            <a:ext cx="14924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Close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0040874" y="2148840"/>
            <a:ext cx="149245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GM Audit: Close (e-sign)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5204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Nobody signs two levels or their own work. A signed page is read-only; removing a sign-off removes the later ones.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chain</a:t>
            </a:r>
            <a:endParaRPr lang="en-US" sz="3200" dirty="0"/>
          </a:p>
        </p:txBody>
      </p:sp>
      <p:sp>
        <p:nvSpPr>
          <p:cNvPr id="3" name="flow1"/>
          <p:cNvSpPr/>
          <p:nvPr/>
        </p:nvSpPr>
        <p:spPr>
          <a:xfrm>
            <a:off x="548640" y="1463040"/>
            <a:ext cx="1443838" cy="1691640"/>
          </a:xfrm>
          <a:prstGeom prst="roundRect">
            <a:avLst>
              <a:gd name="adj" fmla="val 6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600200"/>
            <a:ext cx="12243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Draft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148840"/>
            <a:ext cx="12243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Create draft report; Edit report</a:t>
            </a:r>
            <a:endParaRPr lang="en-US" sz="1300" dirty="0"/>
          </a:p>
        </p:txBody>
      </p:sp>
      <p:sp>
        <p:nvSpPr>
          <p:cNvPr id="6" name="flow2"/>
          <p:cNvSpPr/>
          <p:nvPr/>
        </p:nvSpPr>
        <p:spPr>
          <a:xfrm>
            <a:off x="2157070" y="1463040"/>
            <a:ext cx="1443838" cy="1691640"/>
          </a:xfrm>
          <a:prstGeom prst="roundRect">
            <a:avLst>
              <a:gd name="adj" fmla="val 633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66798" y="1600200"/>
            <a:ext cx="12243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Management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266798" y="2148840"/>
            <a:ext cx="12243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Send to management; comments in 10 working days</a:t>
            </a:r>
            <a:endParaRPr lang="en-US" sz="1300" dirty="0"/>
          </a:p>
        </p:txBody>
      </p:sp>
      <p:sp>
        <p:nvSpPr>
          <p:cNvPr id="9" name="flow3"/>
          <p:cNvSpPr/>
          <p:nvPr/>
        </p:nvSpPr>
        <p:spPr>
          <a:xfrm>
            <a:off x="3765499" y="1463040"/>
            <a:ext cx="1443838" cy="1691640"/>
          </a:xfrm>
          <a:prstGeom prst="roundRect">
            <a:avLst>
              <a:gd name="adj" fmla="val 6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75227" y="1600200"/>
            <a:ext cx="12243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Unit Head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875227" y="2148840"/>
            <a:ext cx="12243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Review as Unit Head (e-sign)</a:t>
            </a:r>
            <a:endParaRPr lang="en-US" sz="1300" dirty="0"/>
          </a:p>
        </p:txBody>
      </p:sp>
      <p:sp>
        <p:nvSpPr>
          <p:cNvPr id="12" name="flow4"/>
          <p:cNvSpPr/>
          <p:nvPr/>
        </p:nvSpPr>
        <p:spPr>
          <a:xfrm>
            <a:off x="5373929" y="1463040"/>
            <a:ext cx="1443838" cy="1691640"/>
          </a:xfrm>
          <a:prstGeom prst="roundRect">
            <a:avLst>
              <a:gd name="adj" fmla="val 633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3657" y="1600200"/>
            <a:ext cx="12243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Audit Manager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3657" y="2148840"/>
            <a:ext cx="12243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Review as Audit Manager (e-sign)</a:t>
            </a:r>
            <a:endParaRPr lang="en-US" sz="1300" dirty="0"/>
          </a:p>
        </p:txBody>
      </p:sp>
      <p:sp>
        <p:nvSpPr>
          <p:cNvPr id="15" name="flow5"/>
          <p:cNvSpPr/>
          <p:nvPr/>
        </p:nvSpPr>
        <p:spPr>
          <a:xfrm>
            <a:off x="6982358" y="1463040"/>
            <a:ext cx="1443838" cy="1691640"/>
          </a:xfrm>
          <a:prstGeom prst="roundRect">
            <a:avLst>
              <a:gd name="adj" fmla="val 6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92086" y="1600200"/>
            <a:ext cx="12243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PIA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092086" y="2148840"/>
            <a:ext cx="12243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Review as PIA (e-sign)</a:t>
            </a:r>
            <a:endParaRPr lang="en-US" sz="1300" dirty="0"/>
          </a:p>
        </p:txBody>
      </p:sp>
      <p:sp>
        <p:nvSpPr>
          <p:cNvPr id="18" name="flow6"/>
          <p:cNvSpPr/>
          <p:nvPr/>
        </p:nvSpPr>
        <p:spPr>
          <a:xfrm>
            <a:off x="8590788" y="1463040"/>
            <a:ext cx="1443838" cy="1691640"/>
          </a:xfrm>
          <a:prstGeom prst="roundRect">
            <a:avLst>
              <a:gd name="adj" fmla="val 633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700516" y="1600200"/>
            <a:ext cx="12243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GM Audit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700516" y="2148840"/>
            <a:ext cx="12243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Approve &amp; issue (e-sign)</a:t>
            </a:r>
            <a:endParaRPr lang="en-US" sz="1300" dirty="0"/>
          </a:p>
        </p:txBody>
      </p:sp>
      <p:sp>
        <p:nvSpPr>
          <p:cNvPr id="21" name="flow7"/>
          <p:cNvSpPr/>
          <p:nvPr/>
        </p:nvSpPr>
        <p:spPr>
          <a:xfrm>
            <a:off x="10199218" y="1463040"/>
            <a:ext cx="1443838" cy="1691640"/>
          </a:xfrm>
          <a:prstGeom prst="roundRect">
            <a:avLst>
              <a:gd name="adj" fmla="val 6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308946" y="1600200"/>
            <a:ext cx="12243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Distribute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308946" y="2148840"/>
            <a:ext cx="12243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Record copy sent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5204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Any reviewer can Reject (return for rework): the report goes back to Draft. A chain reviewer cannot also give the GM Audit approval. Corrections: Correct › Open version N+1.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Sign in, find your way and use lists, forms and approvals · Manual chapters 3 and 4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Signing in</a:t>
            </a:r>
            <a:endParaRPr lang="en-US" sz="3200" dirty="0"/>
          </a:p>
        </p:txBody>
      </p:sp>
      <p:pic>
        <p:nvPicPr>
          <p:cNvPr id="3" name="screenshot" descr="/tmp/claude-0/giaw/docs/manuals/images/01-sign-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371600"/>
            <a:ext cx="5577840" cy="34861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B2433">
                <a:alpha val="25000"/>
              </a:srgbClr>
            </a:outerShdw>
          </a:effectLst>
        </p:spPr>
      </p:pic>
      <p:sp>
        <p:nvSpPr>
          <p:cNvPr id="4" name="step1"/>
          <p:cNvSpPr/>
          <p:nvPr/>
        </p:nvSpPr>
        <p:spPr>
          <a:xfrm>
            <a:off x="548640" y="14630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1426464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Open the GIAW address in Edge or Chrome</a:t>
            </a:r>
            <a:endParaRPr lang="en-US" sz="1500" dirty="0"/>
          </a:p>
        </p:txBody>
      </p:sp>
      <p:sp>
        <p:nvSpPr>
          <p:cNvPr id="7" name="step2"/>
          <p:cNvSpPr/>
          <p:nvPr/>
        </p:nvSpPr>
        <p:spPr>
          <a:xfrm>
            <a:off x="548640" y="20299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993392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Enter your username and password</a:t>
            </a:r>
            <a:endParaRPr lang="en-US" sz="1500" dirty="0"/>
          </a:p>
        </p:txBody>
      </p:sp>
      <p:sp>
        <p:nvSpPr>
          <p:cNvPr id="10" name="step3"/>
          <p:cNvSpPr/>
          <p:nvPr/>
        </p:nvSpPr>
        <p:spPr>
          <a:xfrm>
            <a:off x="548640" y="259689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256032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Enter the 6-digit code if two-step verification is on</a:t>
            </a:r>
            <a:endParaRPr lang="en-US" sz="1500" dirty="0"/>
          </a:p>
        </p:txBody>
      </p:sp>
      <p:sp>
        <p:nvSpPr>
          <p:cNvPr id="13" name="step4"/>
          <p:cNvSpPr/>
          <p:nvPr/>
        </p:nvSpPr>
        <p:spPr>
          <a:xfrm>
            <a:off x="548640" y="316382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163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097280" y="3127248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Five wrong passwords lock the account for 15 minutes</a:t>
            </a:r>
            <a:endParaRPr lang="en-US" sz="1500" dirty="0"/>
          </a:p>
        </p:txBody>
      </p:sp>
      <p:sp>
        <p:nvSpPr>
          <p:cNvPr id="16" name="step5"/>
          <p:cNvSpPr/>
          <p:nvPr/>
        </p:nvSpPr>
        <p:spPr>
          <a:xfrm>
            <a:off x="548640" y="373075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097280" y="3694176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Idle sessions sign out automatically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your way</a:t>
            </a:r>
            <a:endParaRPr lang="en-US" sz="3200" dirty="0"/>
          </a:p>
        </p:txBody>
      </p:sp>
      <p:pic>
        <p:nvPicPr>
          <p:cNvPr id="3" name="screenshot" descr="/tmp/claude-0/giaw/docs/manuals/images/02-workspace-app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315200" cy="45720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B2433">
                <a:alpha val="25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8183880" y="1417320"/>
            <a:ext cx="34747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Sidebar: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app groups; Workspace Apps and My work at the top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Search ( / ):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audits, issues, actions, reports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Bell: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your notifications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Pencil: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My Drafts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My work: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steps waiting for you, with due dates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? Help: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help for the current page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Lists, forms and approvals work the same everywhere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417320"/>
            <a:ext cx="3566160" cy="38404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288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468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Lists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898648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Search, filter, sort by column, choose columns, export to Excel or CSV, save views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315968" y="1417320"/>
            <a:ext cx="3566160" cy="38404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90288" y="16916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18288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90288" y="2468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Forms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590288" y="2898648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 in a right-hand panel that stays open until you close it, even after a refresh; drafts save as you type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8083296" y="1417320"/>
            <a:ext cx="3566160" cy="38404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357616" y="16916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776" y="182880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57616" y="2468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Approvals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357616" y="2898648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Electronic signatures; you cannot approve your own work; every change is kept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the year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Audit universe, assurance map, risk assessment and the Assurance Plan · Manual chapters 5 and 6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universe: define what can be audited</a:t>
            </a:r>
            <a:endParaRPr lang="en-US" sz="3200" dirty="0"/>
          </a:p>
        </p:txBody>
      </p:sp>
      <p:pic>
        <p:nvPicPr>
          <p:cNvPr id="3" name="screenshot" descr="/tmp/claude-0/giaw/docs/manuals/images/12-univers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315200" cy="45720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B2433">
                <a:alpha val="25000"/>
              </a:srgbClr>
            </a:outerShdw>
          </a:effectLst>
        </p:spPr>
      </p:pic>
      <p:sp>
        <p:nvSpPr>
          <p:cNvPr id="4" name="step1"/>
          <p:cNvSpPr/>
          <p:nvPr/>
        </p:nvSpPr>
        <p:spPr>
          <a:xfrm>
            <a:off x="8183880" y="14630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8388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732520" y="1426464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Units: include or exclude, with a reason</a:t>
            </a:r>
            <a:endParaRPr lang="en-US" sz="1400" dirty="0"/>
          </a:p>
        </p:txBody>
      </p:sp>
      <p:sp>
        <p:nvSpPr>
          <p:cNvPr id="7" name="step2"/>
          <p:cNvSpPr/>
          <p:nvPr/>
        </p:nvSpPr>
        <p:spPr>
          <a:xfrm>
            <a:off x="8183880" y="20299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183880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732520" y="1993392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Processes: map to the units that perform them</a:t>
            </a:r>
            <a:endParaRPr lang="en-US" sz="1400" dirty="0"/>
          </a:p>
        </p:txBody>
      </p:sp>
      <p:sp>
        <p:nvSpPr>
          <p:cNvPr id="10" name="step3"/>
          <p:cNvSpPr/>
          <p:nvPr/>
        </p:nvSpPr>
        <p:spPr>
          <a:xfrm>
            <a:off x="8183880" y="259689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8388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732520" y="256032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Entities: define scope, owner, units and processes</a:t>
            </a:r>
            <a:endParaRPr lang="en-US" sz="1400" dirty="0"/>
          </a:p>
        </p:txBody>
      </p:sp>
      <p:sp>
        <p:nvSpPr>
          <p:cNvPr id="13" name="step4"/>
          <p:cNvSpPr/>
          <p:nvPr/>
        </p:nvSpPr>
        <p:spPr>
          <a:xfrm>
            <a:off x="8183880" y="316382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183880" y="3163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732520" y="3127248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Set Ready to send an entity to risk assessment</a:t>
            </a:r>
            <a:endParaRPr lang="en-US" sz="1400" dirty="0"/>
          </a:p>
        </p:txBody>
      </p:sp>
      <p:sp>
        <p:nvSpPr>
          <p:cNvPr id="16" name="step5"/>
          <p:cNvSpPr/>
          <p:nvPr/>
        </p:nvSpPr>
        <p:spPr>
          <a:xfrm>
            <a:off x="8183880" y="373075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18388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732520" y="3694176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Assurance map: record other providers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Assurance map: who else gives assurance (IIA 9.5)</a:t>
            </a:r>
            <a:endParaRPr lang="en-US" sz="3200" dirty="0"/>
          </a:p>
        </p:txBody>
      </p:sp>
      <p:pic>
        <p:nvPicPr>
          <p:cNvPr id="3" name="screenshot" descr="/tmp/claude-0/giaw/docs/manuals/images/57-assurance-ma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315200" cy="45720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B2433">
                <a:alpha val="25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8183880" y="1417320"/>
            <a:ext cx="34747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First line, second line and external providers per entity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Each provider's latest result and date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Reliance None, Partial or Full, with a recorded basis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Entities with no assurance stand out for planning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Add providers with New provider; coverage on the entity's Assurance tab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risk assessment to an approved plan</a:t>
            </a:r>
            <a:endParaRPr lang="en-US" sz="3200" dirty="0"/>
          </a:p>
        </p:txBody>
      </p:sp>
      <p:sp>
        <p:nvSpPr>
          <p:cNvPr id="3" name="flow1"/>
          <p:cNvSpPr/>
          <p:nvPr/>
        </p:nvSpPr>
        <p:spPr>
          <a:xfrm>
            <a:off x="548640" y="1554480"/>
            <a:ext cx="1443838" cy="1691640"/>
          </a:xfrm>
          <a:prstGeom prst="roundRect">
            <a:avLst>
              <a:gd name="adj" fmla="val 6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691640"/>
            <a:ext cx="12243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Score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240280"/>
            <a:ext cx="12243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Rate Ready entities on the factors</a:t>
            </a:r>
            <a:endParaRPr lang="en-US" sz="1300" dirty="0"/>
          </a:p>
        </p:txBody>
      </p:sp>
      <p:sp>
        <p:nvSpPr>
          <p:cNvPr id="6" name="flow2"/>
          <p:cNvSpPr/>
          <p:nvPr/>
        </p:nvSpPr>
        <p:spPr>
          <a:xfrm>
            <a:off x="2157070" y="1554480"/>
            <a:ext cx="1443838" cy="1691640"/>
          </a:xfrm>
          <a:prstGeom prst="roundRect">
            <a:avLst>
              <a:gd name="adj" fmla="val 633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66798" y="1691640"/>
            <a:ext cx="12243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Draft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266798" y="2240280"/>
            <a:ext cx="12243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Engagements, quarters, hours, leads</a:t>
            </a:r>
            <a:endParaRPr lang="en-US" sz="1300" dirty="0"/>
          </a:p>
        </p:txBody>
      </p:sp>
      <p:sp>
        <p:nvSpPr>
          <p:cNvPr id="9" name="flow3"/>
          <p:cNvSpPr/>
          <p:nvPr/>
        </p:nvSpPr>
        <p:spPr>
          <a:xfrm>
            <a:off x="3765499" y="1554480"/>
            <a:ext cx="1443838" cy="1691640"/>
          </a:xfrm>
          <a:prstGeom prst="roundRect">
            <a:avLst>
              <a:gd name="adj" fmla="val 6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75227" y="1691640"/>
            <a:ext cx="12243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Review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875227" y="2240280"/>
            <a:ext cx="12243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GM Audit approves or returns</a:t>
            </a:r>
            <a:endParaRPr lang="en-US" sz="1300" dirty="0"/>
          </a:p>
        </p:txBody>
      </p:sp>
      <p:sp>
        <p:nvSpPr>
          <p:cNvPr id="12" name="flow4"/>
          <p:cNvSpPr/>
          <p:nvPr/>
        </p:nvSpPr>
        <p:spPr>
          <a:xfrm>
            <a:off x="5373929" y="1554480"/>
            <a:ext cx="1443838" cy="1691640"/>
          </a:xfrm>
          <a:prstGeom prst="roundRect">
            <a:avLst>
              <a:gd name="adj" fmla="val 633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3657" y="1691640"/>
            <a:ext cx="12243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Committee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3657" y="2240280"/>
            <a:ext cx="12243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Decision on the plan</a:t>
            </a:r>
            <a:endParaRPr lang="en-US" sz="1300" dirty="0"/>
          </a:p>
        </p:txBody>
      </p:sp>
      <p:sp>
        <p:nvSpPr>
          <p:cNvPr id="15" name="flow5"/>
          <p:cNvSpPr/>
          <p:nvPr/>
        </p:nvSpPr>
        <p:spPr>
          <a:xfrm>
            <a:off x="6982358" y="1554480"/>
            <a:ext cx="1443838" cy="1691640"/>
          </a:xfrm>
          <a:prstGeom prst="roundRect">
            <a:avLst>
              <a:gd name="adj" fmla="val 6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92086" y="1691640"/>
            <a:ext cx="12243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Version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092086" y="2240280"/>
            <a:ext cx="12243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Frozen copy; IAA submission</a:t>
            </a:r>
            <a:endParaRPr lang="en-US" sz="1300" dirty="0"/>
          </a:p>
        </p:txBody>
      </p:sp>
      <p:sp>
        <p:nvSpPr>
          <p:cNvPr id="18" name="flow6"/>
          <p:cNvSpPr/>
          <p:nvPr/>
        </p:nvSpPr>
        <p:spPr>
          <a:xfrm>
            <a:off x="8590788" y="1554480"/>
            <a:ext cx="1443838" cy="1691640"/>
          </a:xfrm>
          <a:prstGeom prst="roundRect">
            <a:avLst>
              <a:gd name="adj" fmla="val 633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700516" y="1691640"/>
            <a:ext cx="12243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Distribute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700516" y="2240280"/>
            <a:ext cx="12243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HQ and ports acknowledge</a:t>
            </a:r>
            <a:endParaRPr lang="en-US" sz="1300" dirty="0"/>
          </a:p>
        </p:txBody>
      </p:sp>
      <p:sp>
        <p:nvSpPr>
          <p:cNvPr id="21" name="flow7"/>
          <p:cNvSpPr/>
          <p:nvPr/>
        </p:nvSpPr>
        <p:spPr>
          <a:xfrm>
            <a:off x="10199218" y="1554480"/>
            <a:ext cx="1443838" cy="1691640"/>
          </a:xfrm>
          <a:prstGeom prst="roundRect">
            <a:avLst>
              <a:gd name="adj" fmla="val 6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308946" y="1691640"/>
            <a:ext cx="12243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Start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308946" y="2240280"/>
            <a:ext cx="12243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Each engagement becomes an audit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3657600"/>
            <a:ext cx="1106424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37947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Changing an approved plan: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always through a plan change request, with the resource and coverage impact, an independent reviewer, the GM Audit's approval and, when significant, the Audit Committee.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 the audit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Team and independence, planning, fieldwork, evidence and findings · Manual chapter 7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audit page brings everything together</a:t>
            </a:r>
            <a:endParaRPr lang="en-US" sz="3200" dirty="0"/>
          </a:p>
        </p:txBody>
      </p:sp>
      <p:pic>
        <p:nvPicPr>
          <p:cNvPr id="3" name="screenshot" descr="/tmp/claude-0/giaw/docs/manuals/images/04-audit-dashbo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315200" cy="45720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B2433">
                <a:alpha val="25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8183880" y="1417320"/>
            <a:ext cx="34747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Tabs: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Dashboard, Planning, Fieldwork, Reviews, Results, Issues, Progress, Requests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Dashboard: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scope, auditees, team, declarations, closure readiness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Status: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Planned, In Progress, Review, Closed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Nature: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Assurance or Advisory, from the audit type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team member declares independence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417320"/>
            <a:ext cx="3566160" cy="365760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288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468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Declarations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898648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Annual declaration plus one per engagement, for every member of the team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315968" y="1417320"/>
            <a:ext cx="3566160" cy="365760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90288" y="16916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18288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90288" y="2468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Rotation flag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590288" y="2898648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lead has led the same entity for 3 consecutive years (setting)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8083296" y="1417320"/>
            <a:ext cx="3566160" cy="365760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357616" y="16916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776" y="182880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57616" y="2468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Cooling-off flag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357616" y="2898648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member worked in an audited unit within 12 months (setting)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A flagged member declares the conflict; a reviewer clears it with safeguards or reassigns the member.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Planning, fieldwork and evidence</a:t>
            </a:r>
            <a:endParaRPr lang="en-US" sz="3200" dirty="0"/>
          </a:p>
        </p:txBody>
      </p:sp>
      <p:pic>
        <p:nvPicPr>
          <p:cNvPr id="3" name="screenshot" descr="/tmp/claude-0/giaw/docs/manuals/images/06-audit-fieldwo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315200" cy="45720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B2433">
                <a:alpha val="25000"/>
              </a:srgbClr>
            </a:outerShdw>
          </a:effectLst>
        </p:spPr>
      </p:pic>
      <p:sp>
        <p:nvSpPr>
          <p:cNvPr id="4" name="step1"/>
          <p:cNvSpPr/>
          <p:nvPr/>
        </p:nvSpPr>
        <p:spPr>
          <a:xfrm>
            <a:off x="8183880" y="14630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8388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732520" y="1426464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Planning memo approved; engagement letter sent</a:t>
            </a:r>
            <a:endParaRPr lang="en-US" sz="1400" dirty="0"/>
          </a:p>
        </p:txBody>
      </p:sp>
      <p:sp>
        <p:nvSpPr>
          <p:cNvPr id="7" name="step2"/>
          <p:cNvSpPr/>
          <p:nvPr/>
        </p:nvSpPr>
        <p:spPr>
          <a:xfrm>
            <a:off x="8183880" y="20299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183880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732520" y="1993392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Risk and control matrix per objective</a:t>
            </a:r>
            <a:endParaRPr lang="en-US" sz="1400" dirty="0"/>
          </a:p>
        </p:txBody>
      </p:sp>
      <p:sp>
        <p:nvSpPr>
          <p:cNvPr id="10" name="step3"/>
          <p:cNvSpPr/>
          <p:nvPr/>
        </p:nvSpPr>
        <p:spPr>
          <a:xfrm>
            <a:off x="8183880" y="259689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8388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732520" y="256032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Walkthroughs and tests with samples</a:t>
            </a:r>
            <a:endParaRPr lang="en-US" sz="1400" dirty="0"/>
          </a:p>
        </p:txBody>
      </p:sp>
      <p:sp>
        <p:nvSpPr>
          <p:cNvPr id="13" name="step4"/>
          <p:cNvSpPr/>
          <p:nvPr/>
        </p:nvSpPr>
        <p:spPr>
          <a:xfrm>
            <a:off x="8183880" y="316382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183880" y="3163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732520" y="3127248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Request evidence; accept or return it</a:t>
            </a:r>
            <a:endParaRPr lang="en-US" sz="1400" dirty="0"/>
          </a:p>
        </p:txBody>
      </p:sp>
      <p:sp>
        <p:nvSpPr>
          <p:cNvPr id="16" name="step5"/>
          <p:cNvSpPr/>
          <p:nvPr/>
        </p:nvSpPr>
        <p:spPr>
          <a:xfrm>
            <a:off x="8183880" y="373075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18388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732520" y="3694176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Sign off each page; reviewers clear notes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follow criteria, condition, cause and effect</a:t>
            </a:r>
            <a:endParaRPr lang="en-US" sz="3200" dirty="0"/>
          </a:p>
        </p:txBody>
      </p:sp>
      <p:sp>
        <p:nvSpPr>
          <p:cNvPr id="3" name="flow1"/>
          <p:cNvSpPr/>
          <p:nvPr/>
        </p:nvSpPr>
        <p:spPr>
          <a:xfrm>
            <a:off x="548640" y="1463040"/>
            <a:ext cx="2087209" cy="1691640"/>
          </a:xfrm>
          <a:prstGeom prst="roundRect">
            <a:avLst>
              <a:gd name="adj" fmla="val 540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600200"/>
            <a:ext cx="18677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Criteria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148840"/>
            <a:ext cx="186775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What should be</a:t>
            </a:r>
            <a:endParaRPr lang="en-US" sz="1300" dirty="0"/>
          </a:p>
        </p:txBody>
      </p:sp>
      <p:sp>
        <p:nvSpPr>
          <p:cNvPr id="6" name="flow2"/>
          <p:cNvSpPr/>
          <p:nvPr/>
        </p:nvSpPr>
        <p:spPr>
          <a:xfrm>
            <a:off x="2800441" y="1463040"/>
            <a:ext cx="2087209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10169" y="1600200"/>
            <a:ext cx="18677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Condition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910169" y="2148840"/>
            <a:ext cx="186775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What is</a:t>
            </a:r>
            <a:endParaRPr lang="en-US" sz="1300" dirty="0"/>
          </a:p>
        </p:txBody>
      </p:sp>
      <p:sp>
        <p:nvSpPr>
          <p:cNvPr id="9" name="flow3"/>
          <p:cNvSpPr/>
          <p:nvPr/>
        </p:nvSpPr>
        <p:spPr>
          <a:xfrm>
            <a:off x="5052243" y="1463040"/>
            <a:ext cx="2087209" cy="1691640"/>
          </a:xfrm>
          <a:prstGeom prst="roundRect">
            <a:avLst>
              <a:gd name="adj" fmla="val 540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61971" y="1600200"/>
            <a:ext cx="18677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Cause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61971" y="2148840"/>
            <a:ext cx="186775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Why it happened</a:t>
            </a:r>
            <a:endParaRPr lang="en-US" sz="1300" dirty="0"/>
          </a:p>
        </p:txBody>
      </p:sp>
      <p:sp>
        <p:nvSpPr>
          <p:cNvPr id="12" name="flow4"/>
          <p:cNvSpPr/>
          <p:nvPr/>
        </p:nvSpPr>
        <p:spPr>
          <a:xfrm>
            <a:off x="7304044" y="1463040"/>
            <a:ext cx="2087209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13772" y="1600200"/>
            <a:ext cx="18677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Effect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413772" y="2148840"/>
            <a:ext cx="186775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What it means</a:t>
            </a:r>
            <a:endParaRPr lang="en-US" sz="1300" dirty="0"/>
          </a:p>
        </p:txBody>
      </p:sp>
      <p:sp>
        <p:nvSpPr>
          <p:cNvPr id="15" name="flow5"/>
          <p:cNvSpPr/>
          <p:nvPr/>
        </p:nvSpPr>
        <p:spPr>
          <a:xfrm>
            <a:off x="9555846" y="1463040"/>
            <a:ext cx="2087209" cy="1691640"/>
          </a:xfrm>
          <a:prstGeom prst="roundRect">
            <a:avLst>
              <a:gd name="adj" fmla="val 540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65574" y="1600200"/>
            <a:ext cx="18677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Recommendation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665574" y="2148840"/>
            <a:ext cx="186775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What to do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474720"/>
            <a:ext cx="11064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Issues stay internal until you Publish them (the draft report also publishes them)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Management gives a response, responsible officer and target date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 agreed remediation action is raised from the issue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Advisory work records observations; actions are optional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and follow up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The report workflow, corrections, follow-up and risk acceptance · Manual chapters 8 and 9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report: from draft to issued copy</a:t>
            </a:r>
            <a:endParaRPr lang="en-US" sz="3200" dirty="0"/>
          </a:p>
        </p:txBody>
      </p:sp>
      <p:sp>
        <p:nvSpPr>
          <p:cNvPr id="3" name="flow1"/>
          <p:cNvSpPr/>
          <p:nvPr/>
        </p:nvSpPr>
        <p:spPr>
          <a:xfrm>
            <a:off x="548640" y="1463040"/>
            <a:ext cx="2087209" cy="1691640"/>
          </a:xfrm>
          <a:prstGeom prst="roundRect">
            <a:avLst>
              <a:gd name="adj" fmla="val 540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600200"/>
            <a:ext cx="18677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Draft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148840"/>
            <a:ext cx="186775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Team writes; findings pulled in</a:t>
            </a:r>
            <a:endParaRPr lang="en-US" sz="1300" dirty="0"/>
          </a:p>
        </p:txBody>
      </p:sp>
      <p:sp>
        <p:nvSpPr>
          <p:cNvPr id="6" name="flow2"/>
          <p:cNvSpPr/>
          <p:nvPr/>
        </p:nvSpPr>
        <p:spPr>
          <a:xfrm>
            <a:off x="2800441" y="1463040"/>
            <a:ext cx="2087209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10169" y="1600200"/>
            <a:ext cx="18677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Management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910169" y="2148840"/>
            <a:ext cx="186775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Comments within 10 working days</a:t>
            </a:r>
            <a:endParaRPr lang="en-US" sz="1300" dirty="0"/>
          </a:p>
        </p:txBody>
      </p:sp>
      <p:sp>
        <p:nvSpPr>
          <p:cNvPr id="9" name="flow3"/>
          <p:cNvSpPr/>
          <p:nvPr/>
        </p:nvSpPr>
        <p:spPr>
          <a:xfrm>
            <a:off x="5052243" y="1463040"/>
            <a:ext cx="2087209" cy="1691640"/>
          </a:xfrm>
          <a:prstGeom prst="roundRect">
            <a:avLst>
              <a:gd name="adj" fmla="val 540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61971" y="1600200"/>
            <a:ext cx="18677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Review chain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61971" y="2148840"/>
            <a:ext cx="186775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Unit Head, Manager, PIA sign</a:t>
            </a:r>
            <a:endParaRPr lang="en-US" sz="1300" dirty="0"/>
          </a:p>
        </p:txBody>
      </p:sp>
      <p:sp>
        <p:nvSpPr>
          <p:cNvPr id="12" name="flow4"/>
          <p:cNvSpPr/>
          <p:nvPr/>
        </p:nvSpPr>
        <p:spPr>
          <a:xfrm>
            <a:off x="7304044" y="1463040"/>
            <a:ext cx="2087209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13772" y="1600200"/>
            <a:ext cx="18677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GM Audit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413772" y="2148840"/>
            <a:ext cx="186775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Approve and issue (e-sign)</a:t>
            </a:r>
            <a:endParaRPr lang="en-US" sz="1300" dirty="0"/>
          </a:p>
        </p:txBody>
      </p:sp>
      <p:sp>
        <p:nvSpPr>
          <p:cNvPr id="15" name="flow5"/>
          <p:cNvSpPr/>
          <p:nvPr/>
        </p:nvSpPr>
        <p:spPr>
          <a:xfrm>
            <a:off x="9555846" y="1463040"/>
            <a:ext cx="2087209" cy="1691640"/>
          </a:xfrm>
          <a:prstGeom prst="roundRect">
            <a:avLst>
              <a:gd name="adj" fmla="val 540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65574" y="1600200"/>
            <a:ext cx="18677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Distribute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665574" y="2148840"/>
            <a:ext cx="186775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Record each copy (Act 658 s.16)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429000"/>
            <a:ext cx="1106424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749040"/>
            <a:ext cx="548640" cy="54864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645920" y="37033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Correcting an issued report (IIA 11.4)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1645920" y="420624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GM Audit selects Correct and records the error. The issued version is frozen under Earlier versions; the report returns to Draft as the next version, is approved again, and everyone who had the old copy is listed as due the corrected one.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Follow-up: implement, validate, close</a:t>
            </a:r>
            <a:endParaRPr lang="en-US" sz="3200" dirty="0"/>
          </a:p>
        </p:txBody>
      </p:sp>
      <p:pic>
        <p:nvPicPr>
          <p:cNvPr id="3" name="screenshot" descr="/tmp/claude-0/giaw/docs/manuals/images/22-remedia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315200" cy="45720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B2433">
                <a:alpha val="25000"/>
              </a:srgbClr>
            </a:outerShdw>
          </a:effectLst>
        </p:spPr>
      </p:pic>
      <p:sp>
        <p:nvSpPr>
          <p:cNvPr id="4" name="step1"/>
          <p:cNvSpPr/>
          <p:nvPr/>
        </p:nvSpPr>
        <p:spPr>
          <a:xfrm>
            <a:off x="8183880" y="14630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8388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732520" y="1426464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Owner records progress and evidence</a:t>
            </a:r>
            <a:endParaRPr lang="en-US" sz="1400" dirty="0"/>
          </a:p>
        </p:txBody>
      </p:sp>
      <p:sp>
        <p:nvSpPr>
          <p:cNvPr id="7" name="step2"/>
          <p:cNvSpPr/>
          <p:nvPr/>
        </p:nvSpPr>
        <p:spPr>
          <a:xfrm>
            <a:off x="8183880" y="20299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183880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732520" y="1993392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different auditor validates</a:t>
            </a:r>
            <a:endParaRPr lang="en-US" sz="1400" dirty="0"/>
          </a:p>
        </p:txBody>
      </p:sp>
      <p:sp>
        <p:nvSpPr>
          <p:cNvPr id="10" name="step3"/>
          <p:cNvSpPr/>
          <p:nvPr/>
        </p:nvSpPr>
        <p:spPr>
          <a:xfrm>
            <a:off x="8183880" y="259689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8388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732520" y="256032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Authorised manager or Committee closes</a:t>
            </a:r>
            <a:endParaRPr lang="en-US" sz="1400" dirty="0"/>
          </a:p>
        </p:txBody>
      </p:sp>
      <p:sp>
        <p:nvSpPr>
          <p:cNvPr id="13" name="step4"/>
          <p:cNvSpPr/>
          <p:nvPr/>
        </p:nvSpPr>
        <p:spPr>
          <a:xfrm>
            <a:off x="8183880" y="316382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183880" y="3163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732520" y="3127248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Overdue actions escalate automatically</a:t>
            </a:r>
            <a:endParaRPr lang="en-US" sz="1400" dirty="0"/>
          </a:p>
        </p:txBody>
      </p:sp>
      <p:sp>
        <p:nvSpPr>
          <p:cNvPr id="16" name="step5"/>
          <p:cNvSpPr/>
          <p:nvPr/>
        </p:nvSpPr>
        <p:spPr>
          <a:xfrm>
            <a:off x="8183880" y="373075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18388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732520" y="3694176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Quarterly report and annual s.88 statement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acceptance is escalated (IIA 11.5)</a:t>
            </a:r>
            <a:endParaRPr lang="en-US" sz="3200" dirty="0"/>
          </a:p>
        </p:txBody>
      </p:sp>
      <p:sp>
        <p:nvSpPr>
          <p:cNvPr id="3" name="flow1"/>
          <p:cNvSpPr/>
          <p:nvPr/>
        </p:nvSpPr>
        <p:spPr>
          <a:xfrm>
            <a:off x="548640" y="1554480"/>
            <a:ext cx="2650160" cy="1691640"/>
          </a:xfrm>
          <a:prstGeom prst="roundRect">
            <a:avLst>
              <a:gd name="adj" fmla="val 540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691640"/>
            <a:ext cx="2430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Propose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240280"/>
            <a:ext cx="243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Follow-up manager: who accepts and why</a:t>
            </a:r>
            <a:endParaRPr lang="en-US" sz="1300" dirty="0"/>
          </a:p>
        </p:txBody>
      </p:sp>
      <p:sp>
        <p:nvSpPr>
          <p:cNvPr id="6" name="flow2"/>
          <p:cNvSpPr/>
          <p:nvPr/>
        </p:nvSpPr>
        <p:spPr>
          <a:xfrm>
            <a:off x="3363392" y="1554480"/>
            <a:ext cx="265016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3120" y="1691640"/>
            <a:ext cx="2430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GM Audit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73120" y="2240280"/>
            <a:ext cx="243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Discusses with senior management; agrees or not</a:t>
            </a:r>
            <a:endParaRPr lang="en-US" sz="1300" dirty="0"/>
          </a:p>
        </p:txBody>
      </p:sp>
      <p:sp>
        <p:nvSpPr>
          <p:cNvPr id="9" name="flow3"/>
          <p:cNvSpPr/>
          <p:nvPr/>
        </p:nvSpPr>
        <p:spPr>
          <a:xfrm>
            <a:off x="6178144" y="1554480"/>
            <a:ext cx="2650160" cy="1691640"/>
          </a:xfrm>
          <a:prstGeom prst="roundRect">
            <a:avLst>
              <a:gd name="adj" fmla="val 540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87872" y="1691640"/>
            <a:ext cx="2430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Committee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87872" y="2240280"/>
            <a:ext cx="243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Decides High-severity acceptances</a:t>
            </a:r>
            <a:endParaRPr lang="en-US" sz="1300" dirty="0"/>
          </a:p>
        </p:txBody>
      </p:sp>
      <p:sp>
        <p:nvSpPr>
          <p:cNvPr id="12" name="flow4"/>
          <p:cNvSpPr/>
          <p:nvPr/>
        </p:nvSpPr>
        <p:spPr>
          <a:xfrm>
            <a:off x="8992895" y="1554480"/>
            <a:ext cx="265016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02623" y="1691640"/>
            <a:ext cx="2430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Close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102623" y="2240280"/>
            <a:ext cx="243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Action closes as Risk Accepted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5661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If the acceptance is not agreed at any step, the action stays open for implementation. The severities that go to the Committee are a setting.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and quality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Audit Committee, analytics, professional practice and QAIP · Manual chapters 10 and 11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Committee and governance</a:t>
            </a:r>
            <a:endParaRPr lang="en-US" sz="3200" dirty="0"/>
          </a:p>
        </p:txBody>
      </p:sp>
      <p:pic>
        <p:nvPicPr>
          <p:cNvPr id="3" name="screenshot" descr="/tmp/claude-0/giaw/docs/manuals/images/35-audit-committe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315200" cy="45720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B2433">
                <a:alpha val="25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8183880" y="1417320"/>
            <a:ext cx="34747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Committee pack: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plan delivery, reports, findings, overdue actions (Word)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Meetings: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attendance, quorum, minutes locked on approval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Decisions: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close, withdraw, extend, escalate, accept or reject a risk acceptance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Governance portal: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approved plans and issued reports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 practice and quality</a:t>
            </a:r>
            <a:endParaRPr lang="en-US" sz="3200" dirty="0"/>
          </a:p>
        </p:txBody>
      </p:sp>
      <p:pic>
        <p:nvPicPr>
          <p:cNvPr id="3" name="screenshot" descr="/tmp/claude-0/giaw/docs/manuals/images/60-practi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315200" cy="45720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B2433">
                <a:alpha val="25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8183880" y="1417320"/>
            <a:ext cx="34747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Annual and engagement declarations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CPD hours, certifications and previous roles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Charter approval and external assessment (5-yearly)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Engagement quality reviews and auditee surveys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Yearly QAIP summary and internal assessment report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auditees: everything starts in Priorities</a:t>
            </a:r>
            <a:endParaRPr lang="en-US" sz="3200" dirty="0"/>
          </a:p>
        </p:txBody>
      </p:sp>
      <p:pic>
        <p:nvPicPr>
          <p:cNvPr id="3" name="screenshot" descr="/tmp/claude-0/giaw/docs/manuals/images/51-auditee-prioriti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315200" cy="45720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B2433">
                <a:alpha val="25000"/>
              </a:srgbClr>
            </a:outerShdw>
          </a:effectLst>
        </p:spPr>
      </p:pic>
      <p:sp>
        <p:nvSpPr>
          <p:cNvPr id="4" name="step1"/>
          <p:cNvSpPr/>
          <p:nvPr/>
        </p:nvSpPr>
        <p:spPr>
          <a:xfrm>
            <a:off x="8183880" y="14173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8388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732520" y="1380744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 Task Tracker › Priorities</a:t>
            </a:r>
            <a:endParaRPr lang="en-US" sz="1400" dirty="0"/>
          </a:p>
        </p:txBody>
      </p:sp>
      <p:sp>
        <p:nvSpPr>
          <p:cNvPr id="7" name="step2"/>
          <p:cNvSpPr/>
          <p:nvPr/>
        </p:nvSpPr>
        <p:spPr>
          <a:xfrm>
            <a:off x="8183880" y="19842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183880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732520" y="1947672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Upload evidence and Submit</a:t>
            </a:r>
            <a:endParaRPr lang="en-US" sz="1400" dirty="0"/>
          </a:p>
        </p:txBody>
      </p:sp>
      <p:sp>
        <p:nvSpPr>
          <p:cNvPr id="10" name="step3"/>
          <p:cNvSpPr/>
          <p:nvPr/>
        </p:nvSpPr>
        <p:spPr>
          <a:xfrm>
            <a:off x="8183880" y="255117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83880" y="2551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732520" y="251460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Comment on the draft report</a:t>
            </a:r>
            <a:endParaRPr lang="en-US" sz="1400" dirty="0"/>
          </a:p>
        </p:txBody>
      </p:sp>
      <p:sp>
        <p:nvSpPr>
          <p:cNvPr id="13" name="step4"/>
          <p:cNvSpPr/>
          <p:nvPr/>
        </p:nvSpPr>
        <p:spPr>
          <a:xfrm>
            <a:off x="8183880" y="311810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183880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732520" y="3081528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Respond to published issues</a:t>
            </a:r>
            <a:endParaRPr lang="en-US" sz="1400" dirty="0"/>
          </a:p>
        </p:txBody>
      </p:sp>
      <p:sp>
        <p:nvSpPr>
          <p:cNvPr id="16" name="step5"/>
          <p:cNvSpPr/>
          <p:nvPr/>
        </p:nvSpPr>
        <p:spPr>
          <a:xfrm>
            <a:off x="8183880" y="3685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183880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732520" y="3648456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Update actions with evidence</a:t>
            </a:r>
            <a:endParaRPr lang="en-US" sz="1400" dirty="0"/>
          </a:p>
        </p:txBody>
      </p:sp>
      <p:sp>
        <p:nvSpPr>
          <p:cNvPr id="19" name="step6"/>
          <p:cNvSpPr/>
          <p:nvPr/>
        </p:nvSpPr>
        <p:spPr>
          <a:xfrm>
            <a:off x="8183880" y="42519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183880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732520" y="4215384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Complete the survey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reference by role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606040" cy="44805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Auditor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2194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My work and Priorities daily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Declare for each engagement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RCM, tests, sign-offs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Evidence and issues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Validate actions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55848" y="1417320"/>
            <a:ext cx="2606040" cy="44805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84448" y="1600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Manager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584448" y="2194560"/>
            <a:ext cx="2194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Prepare the plan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Allocate teams; check flags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Review and clear notes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Review the report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Close audits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63056" y="1417320"/>
            <a:ext cx="2606040" cy="4480560"/>
          </a:xfrm>
          <a:prstGeom prst="roundRect">
            <a:avLst>
              <a:gd name="adj" fmla="val 42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91656" y="1600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GM Audit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391656" y="2194560"/>
            <a:ext cx="2194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Approve plan and changes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Issue and correct reports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Decide risk acceptances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Committee packs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Charter and EQA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970264" y="1417320"/>
            <a:ext cx="2606040" cy="44805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98864" y="1600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Auditee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9198864" y="2194560"/>
            <a:ext cx="2194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Priorities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Submit evidence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Respond to issues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Update actions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Survey and attestations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 help?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Use ? Help on any page · Full steps in docs/Usermanual.docx · Access and accounts: your GIAW administrator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IAW">
  <a:themeElements>
    <a:clrScheme name="GIAW">
      <a:dk1>
        <a:srgbClr val="1B2433"/>
      </a:dk1>
      <a:lt1>
        <a:srgbClr val="FFFFFF"/>
      </a:lt1>
      <a:dk2>
        <a:srgbClr val="0B2A5B"/>
      </a:dk2>
      <a:lt2>
        <a:srgbClr val="EEF3FA"/>
      </a:lt2>
      <a:accent1>
        <a:srgbClr val="1F4E9C"/>
      </a:accent1>
      <a:accent2>
        <a:srgbClr val="F2B705"/>
      </a:accent2>
      <a:accent3>
        <a:srgbClr val="1E8E5A"/>
      </a:accent3>
      <a:accent4>
        <a:srgbClr val="C2372D"/>
      </a:accent4>
      <a:accent5>
        <a:srgbClr val="5B7DB8"/>
      </a:accent5>
      <a:accent6>
        <a:srgbClr val="6B7A90"/>
      </a:accent6>
      <a:hlink>
        <a:srgbClr val="1F4E9C"/>
      </a:hlink>
      <a:folHlink>
        <a:srgbClr val="5B7DB8"/>
      </a:folHlink>
    </a:clrScheme>
    <a:fontScheme name="GIAW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Ghana Ports and Harbours Authority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GIAW User Manual</dc:title>
  <dc:subject>PptxGenJS Presentation</dc:subject>
  <dc:creator>GPHA Internal Audit Department</dc:creator>
  <cp:lastModifiedBy>GPHA Internal Audit Department</cp:lastModifiedBy>
  <cp:revision>1</cp:revision>
  <dcterms:created xsi:type="dcterms:W3CDTF">2026-10-19T19:29:57Z</dcterms:created>
  <dcterms:modified xsi:type="dcterms:W3CDTF">2026-10-19T19:29:57Z</dcterms:modified>
</cp:coreProperties>
</file>