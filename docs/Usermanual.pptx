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9ecfee4-79f2-a79c-e4d1-aa460856f2b6}">
          <p14:sldIdLst>
            <p14:sldId id="256"/>
            <p14:sldId id="257"/>
            <p14:sldId id="258"/>
            <p14:sldId id="259"/>
          </p14:sldIdLst>
        </p14:section>
        <p14:section name="Who does what" id="{a38875ee-e5b1-5284-512b-9557964b0265}">
          <p14:sldIdLst>
            <p14:sldId id="260"/>
            <p14:sldId id="261"/>
            <p14:sldId id="262"/>
            <p14:sldId id="263"/>
            <p14:sldId id="264"/>
          </p14:sldIdLst>
        </p14:section>
        <p14:section name="Getting started" id="{8c48673d-1434-cf4e-16f6-38332ca109e1}">
          <p14:sldIdLst>
            <p14:sldId id="265"/>
            <p14:sldId id="266"/>
            <p14:sldId id="267"/>
            <p14:sldId id="268"/>
          </p14:sldIdLst>
        </p14:section>
        <p14:section name="Plan the year" id="{05d6feee-c9b8-9555-5e11-912ba815b48d}">
          <p14:sldIdLst>
            <p14:sldId id="269"/>
            <p14:sldId id="270"/>
            <p14:sldId id="271"/>
            <p14:sldId id="272"/>
            <p14:sldId id="273"/>
          </p14:sldIdLst>
        </p14:section>
        <p14:section name="Perform the audit" id="{0744863a-d16c-fb6f-72c7-cf46b9d2b7ff}">
          <p14:sldIdLst>
            <p14:sldId id="274"/>
            <p14:sldId id="275"/>
            <p14:sldId id="276"/>
            <p14:sldId id="277"/>
            <p14:sldId id="278"/>
          </p14:sldIdLst>
        </p14:section>
        <p14:section name="Report and follow up" id="{88bc061f-2c05-11d5-49ff-110aae28e1cb}">
          <p14:sldIdLst>
            <p14:sldId id="279"/>
            <p14:sldId id="280"/>
            <p14:sldId id="281"/>
            <p14:sldId id="282"/>
          </p14:sldIdLst>
        </p14:section>
        <p14:section name="Governance and quality" id="{1c5965dd-ee92-258f-5664-e2ab255d30c3}">
          <p14:sldIdLst>
            <p14:sldId id="283"/>
            <p14:sldId id="284"/>
            <p14:sldId id="285"/>
          </p14:sldIdLst>
        </p14:section>
        <p14:section name="Auditees and quick reference" id="{dcf50d3d-87b9-ac4c-e123-bbca1e8a19f1}">
          <p14:sldIdLst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docs/Usermanual.docx. Each slide points to the chapter of the Word manual that gives the full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TITLE">
    <p:bg>
      <p:bgPr>
        <a:solidFill>
          <a:srgbClr val="0B2A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SECTION">
    <p:bg>
      <p:bgPr>
        <a:solidFill>
          <a:srgbClr val="1F4E9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GPHA Internal Audit Workspace · User Manual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GIAW User Manual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How the GPHA Internal Audit Workspace works and how each user works in it · Version 3.0, October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GIAW holds the whole internal audit cycle in one place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Auditors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 and perform audits: memo, risks and controls, tests, evidence, findings and the report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355848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3016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Managers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Annual plan, teams, reviews and sign-offs, report approval, follow-up and dashboards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63056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3737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Auditees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list of what Internal Audit needs, with a button for each item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8970264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44584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744" y="18288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 Committee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Meeting packs, decisions on recommendations and risk acceptances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Aligned with the IIA Global Internal Audit Standards, Act 658, Act 921 and L.I. 1994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GIAW works: nine stages, each feeding the next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Universe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Define auditable entities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Assurance map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Other providers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Risk assessment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Score and rank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Assurance Plan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 and distribute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Engagement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Plan, perform, review</a:t>
            </a:r>
            <a:endParaRPr lang="en-US" sz="1300" dirty="0"/>
          </a:p>
        </p:txBody>
      </p:sp>
      <p:sp>
        <p:nvSpPr>
          <p:cNvPr id="18" name="flow1"/>
          <p:cNvSpPr/>
          <p:nvPr/>
        </p:nvSpPr>
        <p:spPr>
          <a:xfrm>
            <a:off x="548640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Report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Review chain and issue</a:t>
            </a:r>
            <a:endParaRPr lang="en-US" sz="1300" dirty="0"/>
          </a:p>
        </p:txBody>
      </p:sp>
      <p:sp>
        <p:nvSpPr>
          <p:cNvPr id="21" name="flow2"/>
          <p:cNvSpPr/>
          <p:nvPr/>
        </p:nvSpPr>
        <p:spPr>
          <a:xfrm>
            <a:off x="3363392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3120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Follow-up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473120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Implement and validate</a:t>
            </a:r>
            <a:endParaRPr lang="en-US" sz="1300" dirty="0"/>
          </a:p>
        </p:txBody>
      </p:sp>
      <p:sp>
        <p:nvSpPr>
          <p:cNvPr id="24" name="flow3"/>
          <p:cNvSpPr/>
          <p:nvPr/>
        </p:nvSpPr>
        <p:spPr>
          <a:xfrm>
            <a:off x="6178144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7872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Reporting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287872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Committee and IAA</a:t>
            </a:r>
            <a:endParaRPr lang="en-US" sz="1300" dirty="0"/>
          </a:p>
        </p:txBody>
      </p:sp>
      <p:sp>
        <p:nvSpPr>
          <p:cNvPr id="27" name="flow4"/>
          <p:cNvSpPr/>
          <p:nvPr/>
        </p:nvSpPr>
        <p:spPr>
          <a:xfrm>
            <a:off x="8992895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02623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102623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QAIP and practice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Information is entered once and reused: the plan comes from the risk assessment, the report from the findings, the follow-up from the agreed actions.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built into every step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572768"/>
            <a:ext cx="374904" cy="3749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417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Roles and permissions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8013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You see only the apps, records and buttons your role allows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41732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572768"/>
            <a:ext cx="374904" cy="37490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32320" y="1417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Segregation of duties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132320" y="18013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reviews, approves or closes their own work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035808"/>
            <a:ext cx="374904" cy="37490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Electronic signatures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3264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Approvals record who, what, when and the comment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3035808"/>
            <a:ext cx="374904" cy="3749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13232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Gates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7132320" y="3264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Fieldwork waits for the approved memo and declarations; closure waits for every check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48640" y="434340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498848"/>
            <a:ext cx="374904" cy="37490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6304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Unchangeable history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1463040" y="47274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Record history, activity logs and follow-up timelines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6217920" y="434340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98848"/>
            <a:ext cx="374904" cy="37490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13232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Never-lost forms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7132320" y="47274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Panels stay open; drafts save as you type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does what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assignment, review, report and follow-up chains · Manual chapter 2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 chain: how work reaches people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Plan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Planner names the Lead auditor on each engagement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Start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Audit created; lead and starter join the team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Team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Lead adds Auditors and Reviewers; auditees get access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Work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Procedures and tests Assigned to team members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Preparer signs, names the Next Reviewer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owners are notified when the issue is published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Action owners come from the issue owner or the Responsible officer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Evidence requests go to an auditee on Auditees with access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Everything assigned to you appears in My work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approval chain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Prepare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Checklist, universe review, managers' meeting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15707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6679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Draft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6679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Engagements; Submit for internal review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376549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7522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GM Audit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7522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Approve (e-sign) or Return with comments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537392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365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Committee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365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submission and decision; version frozen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698235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9208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IAA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9208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Record IAA submission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859078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0051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0051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Sites acknowledge receipt</a:t>
            </a:r>
            <a:endParaRPr lang="en-US" sz="1300" dirty="0"/>
          </a:p>
        </p:txBody>
      </p:sp>
      <p:sp>
        <p:nvSpPr>
          <p:cNvPr id="21" name="flow7"/>
          <p:cNvSpPr/>
          <p:nvPr/>
        </p:nvSpPr>
        <p:spPr>
          <a:xfrm>
            <a:off x="1019921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0894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Start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0894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Engagements become audits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Steps run in order. The preparer never approves. Changes after approval go through a plan change request: requester › another manager endorses › GM Audit signs › Committee for significant changes.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gates and the sign-off chain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Memo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Approved by Audit Manager, PIA or GM Audit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425141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34869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Declarations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34869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member: annual and engagement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4301642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1370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 Progress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11370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Move to opens fieldwork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6178144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87872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Preparer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287872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Sign-off; set Next Reviewer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8054645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64373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Reviewers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164373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Detail, General and further levels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9931146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40874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Close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040874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GM Audit: Close (e-sign)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520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Nobody signs two levels or their own work. A signed page is read-only; removing a sign-off removes the later 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chain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Draft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Create draft report; Edit report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15707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6679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Management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6679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 to management; comments in 10 working days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376549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7522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Unit Head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7522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Review as Unit Head (e-sign)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537392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365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Audit Manager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365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Review as Audit Manager (e-sign)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698235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9208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PIA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9208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Review as PIA (e-sign)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859078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0051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GM Audit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0051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 &amp; issue (e-sign)</a:t>
            </a:r>
            <a:endParaRPr lang="en-US" sz="1300" dirty="0"/>
          </a:p>
        </p:txBody>
      </p:sp>
      <p:sp>
        <p:nvSpPr>
          <p:cNvPr id="21" name="flow7"/>
          <p:cNvSpPr/>
          <p:nvPr/>
        </p:nvSpPr>
        <p:spPr>
          <a:xfrm>
            <a:off x="1019921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0894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0894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Record copy sent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Any reviewer can Reject (return for rework): the report goes back to Draft. A chain reviewer cannot also give the GM Audit approval. Corrections: Correct › Open version N+1.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Sign in, find your way and use lists, forms and approvals · Manual chapters 3 and 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</a:t>
            </a:r>
            <a:endParaRPr lang="en-US" sz="3200" dirty="0"/>
          </a:p>
        </p:txBody>
      </p:sp>
      <p:pic>
        <p:nvPicPr>
          <p:cNvPr id="3" name="screenshot" descr="/tmp/claude-0/giaw/docs/manuals/images/01-sign-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371600"/>
            <a:ext cx="5577840" cy="34861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54864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426464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the GIAW address in Edge or Chrome</a:t>
            </a:r>
            <a:endParaRPr lang="en-US" sz="1500" dirty="0"/>
          </a:p>
        </p:txBody>
      </p:sp>
      <p:sp>
        <p:nvSpPr>
          <p:cNvPr id="7" name="step2"/>
          <p:cNvSpPr/>
          <p:nvPr/>
        </p:nvSpPr>
        <p:spPr>
          <a:xfrm>
            <a:off x="54864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99339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your username and password</a:t>
            </a:r>
            <a:endParaRPr lang="en-US" sz="1500" dirty="0"/>
          </a:p>
        </p:txBody>
      </p:sp>
      <p:sp>
        <p:nvSpPr>
          <p:cNvPr id="10" name="step3"/>
          <p:cNvSpPr/>
          <p:nvPr/>
        </p:nvSpPr>
        <p:spPr>
          <a:xfrm>
            <a:off x="54864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25603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the 6-digit code if two-step verification is on</a:t>
            </a:r>
            <a:endParaRPr lang="en-US" sz="1500" dirty="0"/>
          </a:p>
        </p:txBody>
      </p:sp>
      <p:sp>
        <p:nvSpPr>
          <p:cNvPr id="13" name="step4"/>
          <p:cNvSpPr/>
          <p:nvPr/>
        </p:nvSpPr>
        <p:spPr>
          <a:xfrm>
            <a:off x="54864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97280" y="3127248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Five wrong passwords lock the account for 15 minutes</a:t>
            </a:r>
            <a:endParaRPr lang="en-US" sz="1500" dirty="0"/>
          </a:p>
        </p:txBody>
      </p:sp>
      <p:sp>
        <p:nvSpPr>
          <p:cNvPr id="16" name="step5"/>
          <p:cNvSpPr/>
          <p:nvPr/>
        </p:nvSpPr>
        <p:spPr>
          <a:xfrm>
            <a:off x="54864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3694176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Idle sessions sign out automatically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your way</a:t>
            </a:r>
            <a:endParaRPr lang="en-US" sz="3200" dirty="0"/>
          </a:p>
        </p:txBody>
      </p:sp>
      <p:pic>
        <p:nvPicPr>
          <p:cNvPr id="3" name="screenshot" descr="/tmp/claude-0/giaw/docs/manuals/images/02-workspace-ap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Sidebar: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app groups; Workspace Apps and My work at the top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Search ( / ):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audits, issues, actions, reports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Bell: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your notifications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Pencil: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My Drafts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My work: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steps waiting for you, with due dates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? Help: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help for the current page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Lists, forms and approvals work the same everywhere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Lists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Search, filter, sort by column, choose columns, export to Excel or CSV, save views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15968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90288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Forms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in a right-hand panel that stays open until you close it, even after a refresh; drafts save as you type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83296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57616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Approvals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Electronic signatures; you cannot approve your own work; every change is kept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the year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Audit universe, assurance map, risk assessment and the Assurance Plan · Manual chapters 5 and 6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universe: define what can be audited</a:t>
            </a:r>
            <a:endParaRPr lang="en-US" sz="3200" dirty="0"/>
          </a:p>
        </p:txBody>
      </p:sp>
      <p:pic>
        <p:nvPicPr>
          <p:cNvPr id="3" name="screenshot" descr="/tmp/claude-0/giaw/docs/manuals/images/12-univer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Units: include or exclude, with a reason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Processes: map to the units that perform them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Entities: define scope, owner, units and processes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 Ready to send an entity to risk assessment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Assurance map: record other providers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Assurance map: who else gives assurance (IIA 9.5)</a:t>
            </a:r>
            <a:endParaRPr lang="en-US" sz="3200" dirty="0"/>
          </a:p>
        </p:txBody>
      </p:sp>
      <p:pic>
        <p:nvPicPr>
          <p:cNvPr id="3" name="screenshot" descr="/tmp/claude-0/giaw/docs/manuals/images/57-assurance-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First line, second line and external providers per entity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provider's latest result and date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Reliance None, Partial or Full, with a recorded basis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Entities with no assurance stand out for planning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Add providers with New provider; coverage on the entity's Assurance tab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Assurance Plan: projects, coverage, risks, resources</a:t>
            </a:r>
            <a:endParaRPr lang="en-US" sz="3200" dirty="0"/>
          </a:p>
        </p:txBody>
      </p:sp>
      <p:pic>
        <p:nvPicPr>
          <p:cNvPr id="3" name="screenshot" descr="/tmp/claude-0/giaw/docs/manuals/images/15-assurance-plan-p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Overview: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projects (100 max), strategic risks, coverage, hours vs available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+ Add to plan: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create new, link active, or roll forward an earlier audit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Progress: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phases scored 0 / 1 / 2 (memo, fieldwork steps, report)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Tabs: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Objectives, Narratives (import), Coverage by entity or category, Strategic risks, Resources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risk assessment to an approved plan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Score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Rate Ready entities on the factors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157070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66798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Draft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66798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Engagements, quarters, hours, leads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3765499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75227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75227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GM Audit approves or returns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5373929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3657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Committee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3657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Decision on the plan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698235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9208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Version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9208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Frozen copy; IAA submission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859078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0051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0051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HQ and ports acknowledge</a:t>
            </a:r>
            <a:endParaRPr lang="en-US" sz="1300" dirty="0"/>
          </a:p>
        </p:txBody>
      </p:sp>
      <p:sp>
        <p:nvSpPr>
          <p:cNvPr id="21" name="flow7"/>
          <p:cNvSpPr/>
          <p:nvPr/>
        </p:nvSpPr>
        <p:spPr>
          <a:xfrm>
            <a:off x="1019921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0894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Start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0894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Each engagement becomes an audit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10642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3794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Changing an approved plan: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through a plan change request, with the resource and coverage impact, an independent reviewer, the GM Audit's approval and, when significant, the Audit Committee.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 the audit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Team and independence, planning, fieldwork, evidence and findings · Manual chapter 7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page brings everything together</a:t>
            </a:r>
            <a:endParaRPr lang="en-US" sz="3200" dirty="0"/>
          </a:p>
        </p:txBody>
      </p:sp>
      <p:pic>
        <p:nvPicPr>
          <p:cNvPr id="3" name="screenshot" descr="/tmp/claude-0/giaw/docs/manuals/images/04-audit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Phases: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Plan (GIAS 13), Perform (14), Communicate (15.1), Monitor (15.2)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Tabs: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Overview, Planning, Fieldwork, Findings, Report, Supervision &amp; review, Evidence requests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Status: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Planned, In Progress, Review, Closed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Nature: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Assurance or Advisory, from the audit type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team member declares independence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Declarations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Annual declaration plus one per engagement, for every member of the team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15968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90288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Rotation flag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lead has led the same entity for 3 consecutive years (setting)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83296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57616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Cooling-off flag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member worked in an audited unit within 12 months (setting)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 flagged member declares the conflict; a reviewer clears it with safeguards or reassigns the member.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Planning, fieldwork and evidence</a:t>
            </a:r>
            <a:endParaRPr lang="en-US" sz="3200" dirty="0"/>
          </a:p>
        </p:txBody>
      </p:sp>
      <p:pic>
        <p:nvPicPr>
          <p:cNvPr id="3" name="screenshot" descr="/tmp/claude-0/giaw/docs/manuals/images/06-audit-fieldwo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Process narratives (GIAS 13.2)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Risk &amp; control matrix: risk x control (13.2-13.4)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Walkthroughs: test of design (14.1)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 plan: method, sample, attributes (13.6)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Testing: operating effectiveness (14.2)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follow criteria, condition, cause and effect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Criteria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What should be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Condition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What is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Cause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Why it happened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Effect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What it means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Recommendation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What to do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Issues stay internal until you Publish them (the draft report also publishes them)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Management gives a response, responsible officer and target date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 agreed remediation action is raised from the issue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Advisory work records observations; actions are optional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and follow up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report workflow, corrections, follow-up and risk acceptance · Manual chapters 8 and 9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report: from draft to issued copy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Draft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Team writes; findings pulled in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Management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Comments within 10 working days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 chain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Unit Head, Manager, PIA sign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GM Audit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 and issue (e-sign)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Record each copy (Act 658 s.16)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064240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749040"/>
            <a:ext cx="548640" cy="5486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645920" y="3703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Correcting an issued report (IIA 11.4)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20624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GM Audit selects Correct and records the error. The issued version is frozen under Earlier versions; the report returns to Draft as the next version, is approved again, and everyone who had the old copy is listed as due the corrected 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Follow-up: implement, validate, close</a:t>
            </a:r>
            <a:endParaRPr lang="en-US" sz="3200" dirty="0"/>
          </a:p>
        </p:txBody>
      </p:sp>
      <p:pic>
        <p:nvPicPr>
          <p:cNvPr id="3" name="screenshot" descr="/tmp/claude-0/giaw/docs/manuals/images/22-remedi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 records progress and evidence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different auditor validates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Authorised manager or Committee closes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Overdue actions escalate automatically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Quarterly report and annual s.88 statement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acceptance is escalated (IIA 11.5)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Propose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Follow-up manager: who accepts and why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3363392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3120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GM Audit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3120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Discusses with senior management; agrees or not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6178144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87872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Committee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87872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Decides High-severity acceptances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8992895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02623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Close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02623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closes as Risk Accepted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661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the acceptance is not agreed at any step, the action stays open for implementation. The severities that go to the Committee are a setting.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and quality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Audit Committee, analytics, professional practice and QAIP · Manual chapters 10 and 11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Committee and governance</a:t>
            </a:r>
            <a:endParaRPr lang="en-US" sz="3200" dirty="0"/>
          </a:p>
        </p:txBody>
      </p:sp>
      <p:pic>
        <p:nvPicPr>
          <p:cNvPr id="3" name="screenshot" descr="/tmp/claude-0/giaw/docs/manuals/images/35-audit-committ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Committee pack: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plan delivery, reports, findings, overdue actions (Word)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Meetings: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attendance, quorum, minutes locked on approval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Decisions: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close, withdraw, extend, escalate, accept or reject a risk acceptance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Governance portal: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approved plans and issued reports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practice and quality</a:t>
            </a:r>
            <a:endParaRPr lang="en-US" sz="3200" dirty="0"/>
          </a:p>
        </p:txBody>
      </p:sp>
      <p:pic>
        <p:nvPicPr>
          <p:cNvPr id="3" name="screenshot" descr="/tmp/claude-0/giaw/docs/manuals/images/60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Annual and engagement declarations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CPD hours, certifications and previous roles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Charter approval and external assessment (5-yearly)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Engagement quality reviews and auditee surveys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Yearly QAIP summary and internal assessment report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auditees: everything starts in Priorities</a:t>
            </a:r>
            <a:endParaRPr lang="en-US" sz="3200" dirty="0"/>
          </a:p>
        </p:txBody>
      </p:sp>
      <p:pic>
        <p:nvPicPr>
          <p:cNvPr id="3" name="screenshot" descr="/tmp/claude-0/giaw/docs/manuals/images/51-auditee-prioriti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38074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Task Tracker › Priorities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19842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4767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 evidence and Submit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5117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1460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 on the draft report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181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08152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 to published issues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68503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4845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Update actions with evidence</a:t>
            </a:r>
            <a:endParaRPr lang="en-US" sz="1400" dirty="0"/>
          </a:p>
        </p:txBody>
      </p:sp>
      <p:sp>
        <p:nvSpPr>
          <p:cNvPr id="19" name="step6"/>
          <p:cNvSpPr/>
          <p:nvPr/>
        </p:nvSpPr>
        <p:spPr>
          <a:xfrm>
            <a:off x="8183880" y="42519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18388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732520" y="421538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Complete the survey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by role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Auditor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My work and Priorities daily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Declare for each engagement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RCM, tests, sign-offs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Evidence and issues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Validate actions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5848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84448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Manager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584448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Prepare the plan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Allocate teams; check flags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Review and clear notes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Review the report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Close audits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63056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91656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GM Audit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391656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Approve plan and changes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Issue and correct reports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Decide risk acceptances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Committee packs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Charter and EQA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70264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98864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Auditee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198864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Priorities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Submit evidence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Respond to issues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Update actions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Survey and attestations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help?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Use ? Help on any page · Full steps in docs/Usermanual.docx · Access and accounts: your GIAW administrator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IAW">
  <a:themeElements>
    <a:clrScheme name="GIAW">
      <a:dk1>
        <a:srgbClr val="1B2433"/>
      </a:dk1>
      <a:lt1>
        <a:srgbClr val="FFFFFF"/>
      </a:lt1>
      <a:dk2>
        <a:srgbClr val="0B2A5B"/>
      </a:dk2>
      <a:lt2>
        <a:srgbClr val="EEF3FA"/>
      </a:lt2>
      <a:accent1>
        <a:srgbClr val="1F4E9C"/>
      </a:accent1>
      <a:accent2>
        <a:srgbClr val="F2B705"/>
      </a:accent2>
      <a:accent3>
        <a:srgbClr val="1E8E5A"/>
      </a:accent3>
      <a:accent4>
        <a:srgbClr val="C2372D"/>
      </a:accent4>
      <a:accent5>
        <a:srgbClr val="5B7DB8"/>
      </a:accent5>
      <a:accent6>
        <a:srgbClr val="6B7A90"/>
      </a:accent6>
      <a:hlink>
        <a:srgbClr val="1F4E9C"/>
      </a:hlink>
      <a:folHlink>
        <a:srgbClr val="5B7DB8"/>
      </a:folHlink>
    </a:clrScheme>
    <a:fontScheme name="GIA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Ghana Ports and Harbours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GIAW User Manual</dc:title>
  <dc:subject>PptxGenJS Presentation</dc:subject>
  <dc:creator>GPHA Internal Audit Department</dc:creator>
  <cp:lastModifiedBy>GPHA Internal Audit Department</cp:lastModifiedBy>
  <cp:revision>1</cp:revision>
  <dcterms:created xsi:type="dcterms:W3CDTF">2026-10-20T10:54:10Z</dcterms:created>
  <dcterms:modified xsi:type="dcterms:W3CDTF">2026-10-20T10:54:10Z</dcterms:modified>
</cp:coreProperties>
</file>