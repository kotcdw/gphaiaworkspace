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bf82dc0-8714-97d8-085f-cfd92cf75bea}">
          <p14:sldIdLst>
            <p14:sldId id="256"/>
            <p14:sldId id="257"/>
            <p14:sldId id="258"/>
            <p14:sldId id="259"/>
            <p14:sldId id="260"/>
          </p14:sldIdLst>
        </p14:section>
        <p14:section name="Getting started" id="{27d648fb-c2fa-36f4-4460-64d79a50da89}">
          <p14:sldIdLst>
            <p14:sldId id="261"/>
            <p14:sldId id="262"/>
            <p14:sldId id="263"/>
            <p14:sldId id="264"/>
          </p14:sldIdLst>
        </p14:section>
        <p14:section name="Working with GIAW" id="{ed78aa03-9622-085a-c7e2-4a2215ab27f0}">
          <p14:sldIdLst>
            <p14:sldId id="265"/>
            <p14:sldId id="266"/>
            <p14:sldId id="267"/>
            <p14:sldId id="268"/>
          </p14:sldIdLst>
        </p14:section>
        <p14:section name="Audit management" id="{f53d69ec-c9d2-7a64-7858-70dd5f45c7d3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Oversight, risk and compliance" id="{c25af204-0395-ac52-45b6-a75552d44420}">
          <p14:sldIdLst>
            <p14:sldId id="279"/>
            <p14:sldId id="280"/>
            <p14:sldId id="281"/>
          </p14:sldIdLst>
        </p14:section>
        <p14:section name="For auditees" id="{51ee558b-f8f4-4ba4-cf52-58bce751a184}">
          <p14:sldIdLst>
            <p14:sldId id="282"/>
            <p14:sldId id="283"/>
          </p14:sldIdLst>
        </p14:section>
        <p14:section name="Administration" id="{119b5c2f-52a7-ce4f-bbc8-7eff7042822b}">
          <p14:sldIdLst>
            <p14:sldId id="284"/>
            <p14:sldId id="285"/>
            <p14:sldId id="286"/>
          </p14:sldIdLst>
        </p14:section>
        <p14:section name="Wrap-up" id="{aff92615-dfed-2b74-c5b7-69dcbab987e4}">
          <p14:sldIdLst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participants. Introduce yourself and the support contacts. Explain that the session is hands-on: each participant has a training account on a training copy of GIAW, never the live system. Ask everyone to sign in now so problems are found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outcomes aloud. Ask participants which part of their work they most want GIAW to help with, and note it on the flip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which track each participant is on. Everyone does Foundations first. Managers also benefit from the auditor sessions as a refresher.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system replaces the retired Audit Manager application and scattered spreadsheets. The numbers are from the current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diagram left to right. Every box is a screen they will use today. Point out that requests and evidence run alongside fieldwork, and that issues lead to remediation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A2, about 30 minutes, then Exercise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signing in. If two-step verification is enabled for their role, show the QR code set-up with an authenticator app. Stress: never share passwords; GIAW never asks for them by e-mail.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area on the live system: top bar (workplace, search with the / key, help, bell, drafts, profile, sign out), the sidebar groups, and the Workspace Apps tiles with live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help panel and the bell on the live system. Show that selecting a notification opens the record. Mention e-mail copies if GPHA has enabled the mail relay.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A3, about 40 minutes, then Exercise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on Audits: search, a filter, sort a column, hide a column, export to Excel, save a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a new audit, type a title, close the tab, reopen: the draft is restored. Show My Drafts. Mention that validation messages appear under the field in plain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control message: the system will not let anyone approve their own work. Approvals are electronic signatures, recorded with name and time. Every change is in History and Activity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B and C core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plan page. Explain that an approved plan is frozen; any change is a plan change request with an impact analysis, and significant changes go to the Audit Committee.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Tour the Dashboard: header actions, utility links, tabs, auditees with access, engagement team, Move to, and the Closure readiness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adding an objective, a risk and a control, then From library. Point at the coverage gap banner. Then show the Testing sub-tab and raising an issue from an ineffective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Request evidence. The assignee must first be added to Auditees with access. Explain returns, reminders, and that files are encrypted with a fingerprint.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important: new issues are hidden from the auditee until published. Demonstrate Publish, then switch to the auditee account to show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step is an approval by a different person. The response deadline for management is counted in working days, skipping weekends and configured holidays. Issues are frozen once the report is issued.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Closure readiness checklist. Closing needs an electronic signature by an authorised manager who did not prepare the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open Task Tracker. Priorities gathers everything waiting for you across all apps. The red number in the sidebar is the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owner updates progress and evidence; a different auditor validates; an authorised person closes. Overdue actions escalate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C (C6) and Track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KPIs against targets and the heat map, then the Committee pack and its Word download.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 risk: inherent, residual and target scores, KRIs and linked records. Then a third party in Asset Inventory with its due-diligence assessments.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D. Use the auditee training account for the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Auditees only see the audits they were added to and published issues. Their whole job happens from Task Tracker Priorities.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Track E. IT staff attend E1 for installation and the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adding a user with a job role and workplace. The Roles &amp; permissions matrix has 51 permissions; only Super Administrators change it. Segregation of duties is enforced regardless.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changes take effect immediately and are logged. Backups are encrypted; the encryption key must be stored separately and safely. Test a restore every quarter with verify_backup.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quick reference cards and evaluation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Participants complete the exercises for their track from the Training Guide. Tick each one when the participant shows the expected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questions to the room before revealing the answers. Answers: 1 Task Tracker Priorities; 2 No, a different authorised person; 3 Publish it; 4 Through a plan change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evaluation forms. Remind participants of the support route and that the training copy stays available for practice. Record attendance and knowledge-check scores in the completion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image" Target="../media/image-1002-2.jp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W_TITLE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s/dia/po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pic>
        <p:nvPicPr>
          <p:cNvPr id="3" name="Image 1" descr="/tmp/claude-0/s/dia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5120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5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ADCF5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W_SECTION">
    <p:bg>
      <p:bgPr>
        <a:solidFill>
          <a:srgbClr val="1E6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CE8F7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Description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IAW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GPHA Internal Audit Workspace · Training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image" Target="../media/image-25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9202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GIAW Training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5"/>
                </a:solidFill>
              </a:rPr>
              <a:t>GPHA Internal Audit Workspace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5"/>
                </a:solidFill>
              </a:rPr>
              <a:t>End-user and administrator training · Version 1.0,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 today</a:t>
            </a:r>
            <a:endParaRPr lang="en-US" sz="3000" dirty="0"/>
          </a:p>
        </p:txBody>
      </p:sp>
      <p:sp>
        <p:nvSpPr>
          <p:cNvPr id="4" name="Card Find your way"/>
          <p:cNvSpPr/>
          <p:nvPr/>
        </p:nvSpPr>
        <p:spPr>
          <a:xfrm>
            <a:off x="457200" y="13258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6304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Find your way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Sign in, use the sidebar, Workspace Apps, search, help and notifications</a:t>
            </a:r>
            <a:endParaRPr lang="en-US" sz="1900" dirty="0"/>
          </a:p>
        </p:txBody>
      </p:sp>
      <p:sp>
        <p:nvSpPr>
          <p:cNvPr id="6" name="Card Do your part of the audit cycle"/>
          <p:cNvSpPr/>
          <p:nvPr/>
        </p:nvSpPr>
        <p:spPr>
          <a:xfrm>
            <a:off x="6172200" y="132588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46304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Do your part of the audit cycle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Plan, fieldwork, evidence, issues, report and follow-up for your role</a:t>
            </a:r>
            <a:endParaRPr lang="en-US" sz="1900" dirty="0"/>
          </a:p>
        </p:txBody>
      </p:sp>
      <p:sp>
        <p:nvSpPr>
          <p:cNvPr id="8" name="Card Work safely"/>
          <p:cNvSpPr/>
          <p:nvPr/>
        </p:nvSpPr>
        <p:spPr>
          <a:xfrm>
            <a:off x="457200" y="37490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8862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Work safely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Drafts never lost, sign-offs, electronic signatures, segregation of duties</a:t>
            </a:r>
            <a:endParaRPr lang="en-US" sz="1900" dirty="0"/>
          </a:p>
        </p:txBody>
      </p:sp>
      <p:sp>
        <p:nvSpPr>
          <p:cNvPr id="10" name="Card Stay on top of work"/>
          <p:cNvSpPr/>
          <p:nvPr/>
        </p:nvSpPr>
        <p:spPr>
          <a:xfrm>
            <a:off x="6172200" y="37490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38862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Stay on top of work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Task Tracker priorities, to-dos and requests every day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tracks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30936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Track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Audience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Duration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A · Foundations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Everyone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 h 30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B · Auditor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Senior Auditors, Auditors, Audit Clerks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 day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C · Manager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Unit Heads, Audit Managers, PIAs, GM Audit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 day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D · Auditee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Heads of department, action owners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2 h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E · Administrator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Super Administrators, Administrators, IT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 day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F · GRC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Risk, compliance and policy owners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2 h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GIAW at a glance</a:t>
            </a:r>
            <a:endParaRPr lang="en-US" sz="3000" dirty="0"/>
          </a:p>
        </p:txBody>
      </p:sp>
      <p:sp>
        <p:nvSpPr>
          <p:cNvPr id="4" name="Stat 1"/>
          <p:cNvSpPr/>
          <p:nvPr/>
        </p:nvSpPr>
        <p:spPr>
          <a:xfrm>
            <a:off x="45720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system for the whole audit cycle</a:t>
            </a:r>
            <a:endParaRPr lang="en-US" sz="1500" dirty="0"/>
          </a:p>
        </p:txBody>
      </p:sp>
      <p:sp>
        <p:nvSpPr>
          <p:cNvPr id="7" name="Stat 38"/>
          <p:cNvSpPr/>
          <p:nvPr/>
        </p:nvSpPr>
        <p:spPr>
          <a:xfrm>
            <a:off x="329184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29184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screens grouped into 6 solution areas</a:t>
            </a:r>
            <a:endParaRPr lang="en-US" sz="1500" dirty="0"/>
          </a:p>
        </p:txBody>
      </p:sp>
      <p:sp>
        <p:nvSpPr>
          <p:cNvPr id="10" name="Stat 5"/>
          <p:cNvSpPr/>
          <p:nvPr/>
        </p:nvSpPr>
        <p:spPr>
          <a:xfrm>
            <a:off x="612648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job roles with 51 fine-grained permissions</a:t>
            </a:r>
            <a:endParaRPr lang="en-US" sz="1500" dirty="0"/>
          </a:p>
        </p:txBody>
      </p:sp>
      <p:sp>
        <p:nvSpPr>
          <p:cNvPr id="13" name="Stat 0"/>
          <p:cNvSpPr/>
          <p:nvPr/>
        </p:nvSpPr>
        <p:spPr>
          <a:xfrm>
            <a:off x="8961120" y="146304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EEF3FA"/>
          </a:solidFill>
          <a:ln w="12700">
            <a:solidFill>
              <a:srgbClr val="D5DF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0" y="16002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0" y="278892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work lost: every form autosaves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2976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Built on FastAPI and MySQL, hosted on GPHA's own server, with HTTPS, two-step verification and an append-only audit trail.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cycle in GIAW</a:t>
            </a:r>
            <a:endParaRPr lang="en-US" sz="3000" dirty="0"/>
          </a:p>
        </p:txBody>
      </p:sp>
      <p:pic>
        <p:nvPicPr>
          <p:cNvPr id="4" name="Audit lifecycle diagram" descr="/tmp/claude-0/proj/docs/manuals/images/diagram-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11247120" cy="171566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44054"/>
                </a:solidFill>
              </a:rPr>
              <a:t>Universe → Plan → Audit → Planning → Fieldwork ⇄ Requests → Issues → Report → Remediation → Close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Signing in, the screen, help and notifications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 securely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1-sign-in.jpg" descr="/tmp/claude-0/proj/docs/manuals/images/01-sign-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408176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the GIAW address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From IT, in Edge or Chrome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121408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Username and password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Then Sign in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283464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Two-step code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6 digits from your authenticator app, if required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4787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Five wrong tries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Account locked for 15 minutes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 layout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289304"/>
            <a:ext cx="7022592" cy="42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2-workspace-apps.jpg" descr="/tmp/claude-0/proj/docs/manuals/images/02-workspace-ap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49440" cy="415139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1371600"/>
            <a:ext cx="3931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44054"/>
                </a:solidFill>
              </a:rPr>
              <a:t>Workspace Apps: every app as a tile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44054"/>
                </a:solidFill>
              </a:rPr>
              <a:t>Sidebar groups fold and unfold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44054"/>
                </a:solidFill>
              </a:rPr>
              <a:t>Search everything you may see: press /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44054"/>
                </a:solidFill>
              </a:rPr>
              <a:t>? help for the current page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44054"/>
                </a:solidFill>
              </a:rPr>
              <a:t>Bell: notifications · Pencil: My Drafts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44054"/>
                </a:solidFill>
              </a:rPr>
              <a:t>Phones: open the menu with 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Help, notifications and drafts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45-help-panel.jpg" descr="/tmp/claude-0/proj/docs/manuals/images/45-help-pan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27741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618134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7" name="Screenshot 46-notifications.jpg" descr="/tmp/claude-0/proj/docs/manuals/images/46-notification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774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? opens help for the page you are on · the bell lists assignments, reviews and reminders · the pencil opens My Drafts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GIAW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Lists, forms, drafts and electronic signatures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list works the same way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3-audits-list.jpg" descr="/tmp/claude-0/proj/docs/manuals/images/03-audits-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408176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Search and filter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Type in Search list; use the drop-downs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121408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Sort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Select a column heading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283464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Columns and export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Excel or CSV of what you see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4787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Saved views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Keep your favourite filters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never lose your work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289304"/>
            <a:ext cx="7022592" cy="42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47-new-audit-form.jpg" descr="/tmp/claude-0/proj/docs/manuals/images/47-new-audit-f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49440" cy="4151398"/>
          </a:xfrm>
          <a:prstGeom prst="rect">
            <a:avLst/>
          </a:prstGeom>
        </p:spPr>
      </p:pic>
      <p:sp>
        <p:nvSpPr>
          <p:cNvPr id="6" name="Card Autosave"/>
          <p:cNvSpPr/>
          <p:nvPr/>
        </p:nvSpPr>
        <p:spPr>
          <a:xfrm>
            <a:off x="7772400" y="13716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955280" y="15087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Autosave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Saved on your PC instantly and on the server a second later</a:t>
            </a:r>
            <a:endParaRPr lang="en-US" sz="1900" dirty="0"/>
          </a:p>
        </p:txBody>
      </p:sp>
      <p:sp>
        <p:nvSpPr>
          <p:cNvPr id="8" name="Card Restore"/>
          <p:cNvSpPr/>
          <p:nvPr/>
        </p:nvSpPr>
        <p:spPr>
          <a:xfrm>
            <a:off x="7772400" y="29718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955280" y="31089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Restore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Reopen the form and select Restore, or use My Drafts</a:t>
            </a:r>
            <a:endParaRPr lang="en-US" sz="1900" dirty="0"/>
          </a:p>
        </p:txBody>
      </p:sp>
      <p:sp>
        <p:nvSpPr>
          <p:cNvPr id="10" name="Card Required fields *"/>
          <p:cNvSpPr/>
          <p:nvPr/>
        </p:nvSpPr>
        <p:spPr>
          <a:xfrm>
            <a:off x="7772400" y="457200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955280" y="4709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Required fields *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Errors shown under the field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Sign-offs, e-signatures and segregation of duties</a:t>
            </a:r>
            <a:endParaRPr lang="en-US" sz="3000" dirty="0"/>
          </a:p>
        </p:txBody>
      </p:sp>
      <p:sp>
        <p:nvSpPr>
          <p:cNvPr id="4" name="Card Electronic signature"/>
          <p:cNvSpPr/>
          <p:nvPr/>
        </p:nvSpPr>
        <p:spPr>
          <a:xfrm>
            <a:off x="457200" y="14630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6002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Electronic signature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Approvals record who, what and when; a password may be required</a:t>
            </a:r>
            <a:endParaRPr lang="en-US" sz="1900" dirty="0"/>
          </a:p>
        </p:txBody>
      </p:sp>
      <p:sp>
        <p:nvSpPr>
          <p:cNvPr id="6" name="Card You cannot approve your own work"/>
          <p:cNvSpPr/>
          <p:nvPr/>
        </p:nvSpPr>
        <p:spPr>
          <a:xfrm>
            <a:off x="4251960" y="14630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434840" y="16002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You cannot approve your own work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A different authorised person must review, approve or close</a:t>
            </a:r>
            <a:endParaRPr lang="en-US" sz="1900" dirty="0"/>
          </a:p>
        </p:txBody>
      </p:sp>
      <p:sp>
        <p:nvSpPr>
          <p:cNvPr id="8" name="Card Everything is traceable"/>
          <p:cNvSpPr/>
          <p:nvPr/>
        </p:nvSpPr>
        <p:spPr>
          <a:xfrm>
            <a:off x="8046720" y="14630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0" y="1600200"/>
            <a:ext cx="3246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Everything is traceable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History on each record; Activity logs for administrators</a:t>
            </a:r>
            <a:endParaRPr lang="en-US" sz="1900" dirty="0"/>
          </a:p>
        </p:txBody>
      </p:sp>
      <p:sp>
        <p:nvSpPr>
          <p:cNvPr id="10" name="Flow Preparer"/>
          <p:cNvSpPr/>
          <p:nvPr/>
        </p:nvSpPr>
        <p:spPr>
          <a:xfrm>
            <a:off x="457200" y="4343400"/>
            <a:ext cx="2044598" cy="822960"/>
          </a:xfrm>
          <a:prstGeom prst="roundRect">
            <a:avLst>
              <a:gd name="adj" fmla="val 8889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343400"/>
            <a:ext cx="195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Preparer</a:t>
            </a:r>
            <a:endParaRPr lang="en-US" sz="1300" dirty="0"/>
          </a:p>
        </p:txBody>
      </p:sp>
      <p:sp>
        <p:nvSpPr>
          <p:cNvPr id="12" name="Flow arrow"/>
          <p:cNvSpPr/>
          <p:nvPr/>
        </p:nvSpPr>
        <p:spPr>
          <a:xfrm rot="5400000">
            <a:off x="2556662" y="466344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3" name="Flow Detail Reviewer"/>
          <p:cNvSpPr/>
          <p:nvPr/>
        </p:nvSpPr>
        <p:spPr>
          <a:xfrm>
            <a:off x="2757830" y="4343400"/>
            <a:ext cx="2044598" cy="822960"/>
          </a:xfrm>
          <a:prstGeom prst="roundRect">
            <a:avLst>
              <a:gd name="adj" fmla="val 8889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03550" y="4343400"/>
            <a:ext cx="195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Detail Reviewer</a:t>
            </a:r>
            <a:endParaRPr lang="en-US" sz="1300" dirty="0"/>
          </a:p>
        </p:txBody>
      </p:sp>
      <p:sp>
        <p:nvSpPr>
          <p:cNvPr id="15" name="Flow arrow"/>
          <p:cNvSpPr/>
          <p:nvPr/>
        </p:nvSpPr>
        <p:spPr>
          <a:xfrm rot="5400000">
            <a:off x="4857293" y="466344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6" name="Flow General Reviewer"/>
          <p:cNvSpPr/>
          <p:nvPr/>
        </p:nvSpPr>
        <p:spPr>
          <a:xfrm>
            <a:off x="5058461" y="4343400"/>
            <a:ext cx="2044598" cy="822960"/>
          </a:xfrm>
          <a:prstGeom prst="roundRect">
            <a:avLst>
              <a:gd name="adj" fmla="val 8889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04181" y="4343400"/>
            <a:ext cx="195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General Reviewer</a:t>
            </a:r>
            <a:endParaRPr lang="en-US" sz="1300" dirty="0"/>
          </a:p>
        </p:txBody>
      </p:sp>
      <p:sp>
        <p:nvSpPr>
          <p:cNvPr id="18" name="Flow arrow"/>
          <p:cNvSpPr/>
          <p:nvPr/>
        </p:nvSpPr>
        <p:spPr>
          <a:xfrm rot="5400000">
            <a:off x="7157923" y="466344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9" name="Flow Supplemental"/>
          <p:cNvSpPr/>
          <p:nvPr/>
        </p:nvSpPr>
        <p:spPr>
          <a:xfrm>
            <a:off x="7359091" y="4343400"/>
            <a:ext cx="2044598" cy="822960"/>
          </a:xfrm>
          <a:prstGeom prst="roundRect">
            <a:avLst>
              <a:gd name="adj" fmla="val 8889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4811" y="4343400"/>
            <a:ext cx="195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Supplemental</a:t>
            </a:r>
            <a:endParaRPr lang="en-US" sz="1300" dirty="0"/>
          </a:p>
        </p:txBody>
      </p:sp>
      <p:sp>
        <p:nvSpPr>
          <p:cNvPr id="21" name="Flow arrow"/>
          <p:cNvSpPr/>
          <p:nvPr/>
        </p:nvSpPr>
        <p:spPr>
          <a:xfrm rot="5400000">
            <a:off x="9458554" y="466344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22" name="Flow Specialty"/>
          <p:cNvSpPr/>
          <p:nvPr/>
        </p:nvSpPr>
        <p:spPr>
          <a:xfrm>
            <a:off x="9659722" y="4343400"/>
            <a:ext cx="2044598" cy="822960"/>
          </a:xfrm>
          <a:prstGeom prst="roundRect">
            <a:avLst>
              <a:gd name="adj" fmla="val 8889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705442" y="4343400"/>
            <a:ext cx="19531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Specialty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Up to five sign-off levels on fieldwork pages (configurable); the preparer signs first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management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From the Assurance Plan to a closed audit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Assurance Plan cycle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15-assurance-plan-page.jpg" descr="/tmp/claude-0/proj/docs/manuals/images/15-assurance-plan-p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408176"/>
            <a:ext cx="3611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Prepare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Checklist, universe review, managers' meeting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457200" y="233172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276856"/>
            <a:ext cx="3611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Draft and review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Engagements, hours, coverage; GM Audit review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457200" y="320040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3145536"/>
            <a:ext cx="3611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Committee decision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Approved version is frozen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4014216"/>
            <a:ext cx="36118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Distribute and start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Recipients acknowledge; Start creates the audit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page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289304"/>
            <a:ext cx="7022592" cy="42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4-audit-dashboard.jpg" descr="/tmp/claude-0/proj/docs/manuals/images/04-audit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49440" cy="415139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72400" y="137160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Tabs: Dashboard · Planning · Fieldwork · Reviews · Results · Issues · Progress · Requests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Add auditees under Auditees with access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Build the engagement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Move to changes the status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Closure readiness shows what is missing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Fieldwork: the risk control matrix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6-audit-fieldwork.jpg" descr="/tmp/claude-0/proj/docs/manuals/images/06-audit-fieldwo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408176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Objective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What the process must achieve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121408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Risks and controls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Ratings, key controls, From library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283464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Sample, exceptions, conclusion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4787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Sign off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Then reviewers sign in order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Requesting evidence from auditees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289304"/>
            <a:ext cx="7022592" cy="42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11-audit-requests.jpg" descr="/tmp/claude-0/proj/docs/manuals/images/11-audit-reques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49440" cy="4151398"/>
          </a:xfrm>
          <a:prstGeom prst="rect">
            <a:avLst/>
          </a:prstGeom>
        </p:spPr>
      </p:pic>
      <p:sp>
        <p:nvSpPr>
          <p:cNvPr id="6" name="Flow Requested"/>
          <p:cNvSpPr/>
          <p:nvPr/>
        </p:nvSpPr>
        <p:spPr>
          <a:xfrm>
            <a:off x="7772400" y="1554480"/>
            <a:ext cx="1139952" cy="731520"/>
          </a:xfrm>
          <a:prstGeom prst="roundRect">
            <a:avLst>
              <a:gd name="adj" fmla="val 10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818120" y="1554480"/>
            <a:ext cx="1048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Requested</a:t>
            </a:r>
            <a:endParaRPr lang="en-US" sz="1300" dirty="0"/>
          </a:p>
        </p:txBody>
      </p:sp>
      <p:sp>
        <p:nvSpPr>
          <p:cNvPr id="8" name="Flow arrow"/>
          <p:cNvSpPr/>
          <p:nvPr/>
        </p:nvSpPr>
        <p:spPr>
          <a:xfrm rot="5400000">
            <a:off x="8967216" y="182880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9" name="Flow Submitted"/>
          <p:cNvSpPr/>
          <p:nvPr/>
        </p:nvSpPr>
        <p:spPr>
          <a:xfrm>
            <a:off x="9168384" y="1554480"/>
            <a:ext cx="1139952" cy="731520"/>
          </a:xfrm>
          <a:prstGeom prst="roundRect">
            <a:avLst>
              <a:gd name="adj" fmla="val 10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14104" y="1554480"/>
            <a:ext cx="1048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Submitted</a:t>
            </a:r>
            <a:endParaRPr lang="en-US" sz="1300" dirty="0"/>
          </a:p>
        </p:txBody>
      </p:sp>
      <p:sp>
        <p:nvSpPr>
          <p:cNvPr id="11" name="Flow arrow"/>
          <p:cNvSpPr/>
          <p:nvPr/>
        </p:nvSpPr>
        <p:spPr>
          <a:xfrm rot="5400000">
            <a:off x="10363200" y="182880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2" name="Flow Accepted"/>
          <p:cNvSpPr/>
          <p:nvPr/>
        </p:nvSpPr>
        <p:spPr>
          <a:xfrm>
            <a:off x="10564368" y="1554480"/>
            <a:ext cx="1139952" cy="731520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610088" y="1554480"/>
            <a:ext cx="1048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Accepted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0" y="265176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Returned sends it back with a comment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Reminders: daily or weekly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Link to a test, procedure or issue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Auditees cannot accept their own evidence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Issues: record, publish, respond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9-audit-issues.jpg" descr="/tmp/claude-0/proj/docs/manuals/images/09-audit-issu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408176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 issue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Severity, type, owner, recommendation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121408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Publish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Auditee cannot see it before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283464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Management response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Officer and target date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4787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Raise action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Remediation with due date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report review chain</a:t>
            </a:r>
            <a:endParaRPr lang="en-US" sz="3000" dirty="0"/>
          </a:p>
        </p:txBody>
      </p:sp>
      <p:sp>
        <p:nvSpPr>
          <p:cNvPr id="4" name="Flow Draft"/>
          <p:cNvSpPr/>
          <p:nvPr/>
        </p:nvSpPr>
        <p:spPr>
          <a:xfrm>
            <a:off x="457200" y="1645920"/>
            <a:ext cx="2044598" cy="914400"/>
          </a:xfrm>
          <a:prstGeom prst="roundRect">
            <a:avLst>
              <a:gd name="adj" fmla="val 8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02920" y="1645920"/>
            <a:ext cx="1953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Draft</a:t>
            </a:r>
            <a:endParaRPr lang="en-US" sz="1300" dirty="0"/>
          </a:p>
        </p:txBody>
      </p:sp>
      <p:sp>
        <p:nvSpPr>
          <p:cNvPr id="6" name="Flow arrow"/>
          <p:cNvSpPr/>
          <p:nvPr/>
        </p:nvSpPr>
        <p:spPr>
          <a:xfrm rot="5400000">
            <a:off x="2556662" y="201168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7" name="Flow Management Review"/>
          <p:cNvSpPr/>
          <p:nvPr/>
        </p:nvSpPr>
        <p:spPr>
          <a:xfrm>
            <a:off x="2757830" y="1645920"/>
            <a:ext cx="2044598" cy="914400"/>
          </a:xfrm>
          <a:prstGeom prst="roundRect">
            <a:avLst>
              <a:gd name="adj" fmla="val 8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03550" y="1645920"/>
            <a:ext cx="1953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Management Review</a:t>
            </a:r>
            <a:endParaRPr lang="en-US" sz="1300" dirty="0"/>
          </a:p>
        </p:txBody>
      </p:sp>
      <p:sp>
        <p:nvSpPr>
          <p:cNvPr id="9" name="Flow arrow"/>
          <p:cNvSpPr/>
          <p:nvPr/>
        </p:nvSpPr>
        <p:spPr>
          <a:xfrm rot="5400000">
            <a:off x="4857293" y="201168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0" name="Flow Manager Review"/>
          <p:cNvSpPr/>
          <p:nvPr/>
        </p:nvSpPr>
        <p:spPr>
          <a:xfrm>
            <a:off x="5058461" y="1645920"/>
            <a:ext cx="2044598" cy="914400"/>
          </a:xfrm>
          <a:prstGeom prst="roundRect">
            <a:avLst>
              <a:gd name="adj" fmla="val 8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04181" y="1645920"/>
            <a:ext cx="1953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Manager Review</a:t>
            </a:r>
            <a:endParaRPr lang="en-US" sz="1300" dirty="0"/>
          </a:p>
        </p:txBody>
      </p:sp>
      <p:sp>
        <p:nvSpPr>
          <p:cNvPr id="12" name="Flow arrow"/>
          <p:cNvSpPr/>
          <p:nvPr/>
        </p:nvSpPr>
        <p:spPr>
          <a:xfrm rot="5400000">
            <a:off x="7157923" y="201168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3" name="Flow CAE Approval"/>
          <p:cNvSpPr/>
          <p:nvPr/>
        </p:nvSpPr>
        <p:spPr>
          <a:xfrm>
            <a:off x="7359091" y="1645920"/>
            <a:ext cx="2044598" cy="914400"/>
          </a:xfrm>
          <a:prstGeom prst="roundRect">
            <a:avLst>
              <a:gd name="adj" fmla="val 8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04811" y="1645920"/>
            <a:ext cx="1953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CAE Approval</a:t>
            </a:r>
            <a:endParaRPr lang="en-US" sz="1300" dirty="0"/>
          </a:p>
        </p:txBody>
      </p:sp>
      <p:sp>
        <p:nvSpPr>
          <p:cNvPr id="15" name="Flow arrow"/>
          <p:cNvSpPr/>
          <p:nvPr/>
        </p:nvSpPr>
        <p:spPr>
          <a:xfrm rot="5400000">
            <a:off x="9458554" y="201168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6" name="Flow Issued"/>
          <p:cNvSpPr/>
          <p:nvPr/>
        </p:nvSpPr>
        <p:spPr>
          <a:xfrm>
            <a:off x="9659722" y="1645920"/>
            <a:ext cx="2044598" cy="914400"/>
          </a:xfrm>
          <a:prstGeom prst="roundRect">
            <a:avLst>
              <a:gd name="adj" fmla="val 8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705442" y="1645920"/>
            <a:ext cx="1953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Issued</a:t>
            </a:r>
            <a:endParaRPr lang="en-US" sz="1300" dirty="0"/>
          </a:p>
        </p:txBody>
      </p:sp>
      <p:sp>
        <p:nvSpPr>
          <p:cNvPr id="18" name="Screenshot frame"/>
          <p:cNvSpPr/>
          <p:nvPr/>
        </p:nvSpPr>
        <p:spPr>
          <a:xfrm>
            <a:off x="3300984" y="279806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19" name="Screenshot 08-audit-results.jpg" descr="/tmp/claude-0/proj/docs/manuals/images/08-audit-resul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834640"/>
            <a:ext cx="5486400" cy="327741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an audit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289304"/>
            <a:ext cx="7022592" cy="42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04-audit-dashboard.jpg" descr="/tmp/claude-0/proj/docs/manuals/images/04-audit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49440" cy="4151398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77724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275320" y="1408176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Status Review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All fieldwork done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7772400" y="2176272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75320" y="2121408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Tests and notes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Reviewed and cleared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7772400" y="2889504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275320" y="2834640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 issued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Responses and actions agreed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7772400" y="3602736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275320" y="3547872"/>
            <a:ext cx="3429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E-signature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By a different authorised manager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Tracker: your daily start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18-task-tracker-priorities.jpg" descr="/tmp/claude-0/proj/docs/manuals/images/18-task-tracker-priorit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Card Priorities"/>
          <p:cNvSpPr/>
          <p:nvPr/>
        </p:nvSpPr>
        <p:spPr>
          <a:xfrm>
            <a:off x="457200" y="137160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1508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Priorities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Everything waiting for you, with action buttons</a:t>
            </a:r>
            <a:endParaRPr lang="en-US" sz="1900" dirty="0"/>
          </a:p>
        </p:txBody>
      </p:sp>
      <p:sp>
        <p:nvSpPr>
          <p:cNvPr id="8" name="Card To-dos"/>
          <p:cNvSpPr/>
          <p:nvPr/>
        </p:nvSpPr>
        <p:spPr>
          <a:xfrm>
            <a:off x="457200" y="288036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0175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To-dos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Assigned to me, by me, closed</a:t>
            </a:r>
            <a:endParaRPr lang="en-US" sz="1900" dirty="0"/>
          </a:p>
        </p:txBody>
      </p:sp>
      <p:sp>
        <p:nvSpPr>
          <p:cNvPr id="10" name="Card Requests"/>
          <p:cNvSpPr/>
          <p:nvPr/>
        </p:nvSpPr>
        <p:spPr>
          <a:xfrm>
            <a:off x="457200" y="4389120"/>
            <a:ext cx="4114800" cy="1325880"/>
          </a:xfrm>
          <a:prstGeom prst="roundRect">
            <a:avLst>
              <a:gd name="adj" fmla="val 5517"/>
            </a:avLst>
          </a:prstGeom>
          <a:solidFill>
            <a:srgbClr val="EEF3FA"/>
          </a:solidFill>
          <a:ln w="9525">
            <a:solidFill>
              <a:srgbClr val="D5DFE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0080" y="452628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F2A4A"/>
                </a:solidFill>
              </a:rPr>
              <a:t>Requests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44054"/>
                </a:solidFill>
              </a:rPr>
              <a:t>All evidence requests you can see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and follow-up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289304"/>
            <a:ext cx="7022592" cy="4224550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22-remediation.jpg" descr="/tmp/claude-0/proj/docs/manuals/images/22-remedi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949440" cy="4151398"/>
          </a:xfrm>
          <a:prstGeom prst="rect">
            <a:avLst/>
          </a:prstGeom>
        </p:spPr>
      </p:pic>
      <p:sp>
        <p:nvSpPr>
          <p:cNvPr id="6" name="Flow Owner updates"/>
          <p:cNvSpPr/>
          <p:nvPr/>
        </p:nvSpPr>
        <p:spPr>
          <a:xfrm>
            <a:off x="7772400" y="1554480"/>
            <a:ext cx="1139952" cy="731520"/>
          </a:xfrm>
          <a:prstGeom prst="roundRect">
            <a:avLst>
              <a:gd name="adj" fmla="val 10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818120" y="1554480"/>
            <a:ext cx="1048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Owner updates</a:t>
            </a:r>
            <a:endParaRPr lang="en-US" sz="1300" dirty="0"/>
          </a:p>
        </p:txBody>
      </p:sp>
      <p:sp>
        <p:nvSpPr>
          <p:cNvPr id="8" name="Flow arrow"/>
          <p:cNvSpPr/>
          <p:nvPr/>
        </p:nvSpPr>
        <p:spPr>
          <a:xfrm rot="5400000">
            <a:off x="8967216" y="182880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9" name="Flow Validation"/>
          <p:cNvSpPr/>
          <p:nvPr/>
        </p:nvSpPr>
        <p:spPr>
          <a:xfrm>
            <a:off x="9168384" y="1554480"/>
            <a:ext cx="1139952" cy="731520"/>
          </a:xfrm>
          <a:prstGeom prst="roundRect">
            <a:avLst>
              <a:gd name="adj" fmla="val 10000"/>
            </a:avLst>
          </a:prstGeom>
          <a:solidFill>
            <a:srgbClr val="1E60AE"/>
          </a:solidFill>
          <a:ln w="12700">
            <a:solidFill>
              <a:srgbClr val="1E60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14104" y="1554480"/>
            <a:ext cx="1048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1" name="Flow arrow"/>
          <p:cNvSpPr/>
          <p:nvPr/>
        </p:nvSpPr>
        <p:spPr>
          <a:xfrm rot="5400000">
            <a:off x="10363200" y="1828800"/>
            <a:ext cx="146304" cy="182880"/>
          </a:xfrm>
          <a:prstGeom prst="rtTriangle">
            <a:avLst/>
          </a:prstGeom>
          <a:solidFill>
            <a:srgbClr val="9DB6D9"/>
          </a:solidFill>
          <a:ln w="12700">
            <a:solidFill>
              <a:srgbClr val="9DB6D9"/>
            </a:solidFill>
            <a:prstDash val="solid"/>
          </a:ln>
        </p:spPr>
      </p:sp>
      <p:sp>
        <p:nvSpPr>
          <p:cNvPr id="12" name="Flow Closure"/>
          <p:cNvSpPr/>
          <p:nvPr/>
        </p:nvSpPr>
        <p:spPr>
          <a:xfrm>
            <a:off x="10564368" y="1554480"/>
            <a:ext cx="1139952" cy="731520"/>
          </a:xfrm>
          <a:prstGeom prst="roundRect">
            <a:avLst>
              <a:gd name="adj" fmla="val 10000"/>
            </a:avLst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0610088" y="1554480"/>
            <a:ext cx="1048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Closure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0" y="265176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Default due days: High 30, Medium 60, Low 90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Escalation: Audit Managers at 14 days, CAE at 30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054"/>
                </a:solidFill>
              </a:rPr>
              <a:t>Statutory quarterly report and annual statement in Word and Excel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Oversight, risk and compliance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Analytics, the Audit Committee, Risk Manager and third parties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and the Audit Committee pack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31-analytics.jpg" descr="/tmp/claude-0/proj/docs/manuals/images/31-analyti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27741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618134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7" name="Screenshot 35-audit-committee.jpg" descr="/tmp/claude-0/proj/docs/manuals/images/35-audit-committe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774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KPIs against configured targets · heat map · repeat findings · committee pack in Word · meetings and decisions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Manager and third parties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48-risk-record.jpg" descr="/tmp/claude-0/proj/docs/manuals/images/48-risk-reco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27741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618134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7" name="Screenshot 49-asset-record.jpg" descr="/tmp/claude-0/proj/docs/manuals/images/49-asset-reco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774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44054"/>
                </a:solidFill>
              </a:rPr>
              <a:t>Risk owners and third-party owners see their reviews in Task Tracker › Priorities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auditees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Answering requests, issues and actions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Auditees in four steps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51-auditee-priorities.jpg" descr="/tmp/claude-0/proj/docs/manuals/images/51-auditee-prioriti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sp>
        <p:nvSpPr>
          <p:cNvPr id="6" name="Step 1 marker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1408176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Priorities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Task Tracker › Priorities</a:t>
            </a:r>
            <a:endParaRPr lang="en-US" sz="1500" dirty="0"/>
          </a:p>
        </p:txBody>
      </p:sp>
      <p:sp>
        <p:nvSpPr>
          <p:cNvPr id="9" name="Step 2 marker"/>
          <p:cNvSpPr/>
          <p:nvPr/>
        </p:nvSpPr>
        <p:spPr>
          <a:xfrm>
            <a:off x="457200" y="2176272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2121408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Submit evidence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Upload files, short response, Submit</a:t>
            </a:r>
            <a:endParaRPr lang="en-US" sz="1500" dirty="0"/>
          </a:p>
        </p:txBody>
      </p:sp>
      <p:sp>
        <p:nvSpPr>
          <p:cNvPr id="12" name="Step 3 marker"/>
          <p:cNvSpPr/>
          <p:nvPr/>
        </p:nvSpPr>
        <p:spPr>
          <a:xfrm>
            <a:off x="457200" y="2889504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" y="2834640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Respond to issues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Officer and target date</a:t>
            </a:r>
            <a:endParaRPr lang="en-US" sz="1500" dirty="0"/>
          </a:p>
        </p:txBody>
      </p:sp>
      <p:sp>
        <p:nvSpPr>
          <p:cNvPr id="15" name="Step 4 marker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960120" y="3547872"/>
            <a:ext cx="3611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Update actions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44054"/>
                </a:solidFill>
              </a:rPr>
              <a:t>Progress and evidence; IA closes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Users, roles, configuration and backups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and job roles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809744" y="1289304"/>
            <a:ext cx="6931152" cy="4169926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39-roles.jpg" descr="/tmp/claude-0/proj/docs/manuals/images/39-rol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325880"/>
            <a:ext cx="6858000" cy="4096774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Job role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Scope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Super Administrator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Everything, incl. permissions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Administrator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Platform, no audit approval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Manager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Plan, review, approve, close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Auditor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Perform engagements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Audit Client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44054"/>
                          </a:solidFill>
                        </a:rPr>
                        <a:t>Respond as auditee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backups</a:t>
            </a:r>
            <a:endParaRPr lang="en-US" sz="3000" dirty="0"/>
          </a:p>
        </p:txBody>
      </p:sp>
      <p:sp>
        <p:nvSpPr>
          <p:cNvPr id="4" name="Screenshot frame"/>
          <p:cNvSpPr/>
          <p:nvPr/>
        </p:nvSpPr>
        <p:spPr>
          <a:xfrm>
            <a:off x="42062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5" name="Screenshot 40-configuration.jpg" descr="/tmp/claude-0/proj/docs/manuals/images/40-configur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3277419"/>
          </a:xfrm>
          <a:prstGeom prst="rect">
            <a:avLst/>
          </a:prstGeom>
        </p:spPr>
      </p:pic>
      <p:sp>
        <p:nvSpPr>
          <p:cNvPr id="6" name="Screenshot frame"/>
          <p:cNvSpPr/>
          <p:nvPr/>
        </p:nvSpPr>
        <p:spPr>
          <a:xfrm>
            <a:off x="6181344" y="1335024"/>
            <a:ext cx="5559552" cy="3350571"/>
          </a:xfrm>
          <a:prstGeom prst="rect">
            <a:avLst/>
          </a:prstGeom>
          <a:solidFill>
            <a:srgbClr val="FFFFFF"/>
          </a:solidFill>
          <a:ln w="9525">
            <a:solidFill>
              <a:srgbClr val="C3CAD6"/>
            </a:solidFill>
            <a:prstDash val="solid"/>
          </a:ln>
          <a:effectLst>
            <a:outerShdw sx="100000" sy="100000" kx="0" ky="0" algn="bl" rotWithShape="0" blurRad="101600" dist="38100" dir="5400000">
              <a:srgbClr val="0F2A4A">
                <a:alpha val="18000"/>
              </a:srgbClr>
            </a:outerShdw>
          </a:effectLst>
        </p:spPr>
      </p:sp>
      <p:pic>
        <p:nvPicPr>
          <p:cNvPr id="7" name="Screenshot 43-backups.jpg" descr="/tmp/claude-0/proj/docs/manuals/images/43-backup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327741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457200" y="4892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Never put .env, the encryption key, backups or database dumps in e-mail, chat or source control.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Wrap-up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CE8F7"/>
                </a:solidFill>
              </a:rPr>
              <a:t>Practice, check your knowledge, get help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8F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exercises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686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Track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Exercises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0A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Foundations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 Sign in and find your way · 2 Lists, drafts and export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Auditor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3 Set up an audit · 4 Fieldwork · 5 Request evidence · 6 Issues · 7 Remediation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Manager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8 Plan cycle · 9 Review work · 10 Report chain · 11 Close the audit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Auditee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12 Priorities · 13 Submit evidence · 14 Responses and actions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Administrator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15 Users · 16 Org Structure · 17 Configuration · 18 Backups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GRC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44054"/>
                          </a:solidFill>
                        </a:rPr>
                        <a:t>19 Risk and KRI · 20 Third party due diligence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knowledge</a:t>
            </a:r>
            <a:endParaRPr lang="en-US" sz="3000" dirty="0"/>
          </a:p>
        </p:txBody>
      </p:sp>
      <p:sp>
        <p:nvSpPr>
          <p:cNvPr id="4" name="Question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4054"/>
                </a:solidFill>
              </a:rPr>
              <a:t>Where do you see everything waiting for you?</a:t>
            </a:r>
            <a:endParaRPr lang="en-US" sz="2000" dirty="0"/>
          </a:p>
        </p:txBody>
      </p:sp>
      <p:sp>
        <p:nvSpPr>
          <p:cNvPr id="7" name="Question 2"/>
          <p:cNvSpPr/>
          <p:nvPr/>
        </p:nvSpPr>
        <p:spPr>
          <a:xfrm>
            <a:off x="548640" y="2514600"/>
            <a:ext cx="685800" cy="685800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514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146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4054"/>
                </a:solidFill>
              </a:rPr>
              <a:t>Can you review a test you performed yourself?</a:t>
            </a:r>
            <a:endParaRPr lang="en-US" sz="2000" dirty="0"/>
          </a:p>
        </p:txBody>
      </p:sp>
      <p:sp>
        <p:nvSpPr>
          <p:cNvPr id="10" name="Question 3"/>
          <p:cNvSpPr/>
          <p:nvPr/>
        </p:nvSpPr>
        <p:spPr>
          <a:xfrm>
            <a:off x="548640" y="3611880"/>
            <a:ext cx="685800" cy="685800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6118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4054"/>
                </a:solidFill>
              </a:rPr>
              <a:t>The auditee cannot see your new issue. Why?</a:t>
            </a:r>
            <a:endParaRPr lang="en-US" sz="2000" dirty="0"/>
          </a:p>
        </p:txBody>
      </p:sp>
      <p:sp>
        <p:nvSpPr>
          <p:cNvPr id="13" name="Question 4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rgbClr val="FEF200"/>
          </a:solidFill>
          <a:ln w="12700">
            <a:solidFill>
              <a:srgbClr val="FEF2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709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70916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44054"/>
                </a:solidFill>
              </a:rPr>
              <a:t>How is an approved Assurance Plan changed?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192024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5"/>
                </a:solidFill>
              </a:rPr>
              <a:t>Help: the ? button on every page · your super user · the GIAW support contact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5"/>
                </a:solidFill>
              </a:rPr>
              <a:t>Manuals: User Manual, Training Guide, Administration Guide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PHA GIAW">
  <a:themeElements>
    <a:clrScheme name="GPHA GIAW">
      <a:dk1>
        <a:srgbClr val="1D2633"/>
      </a:dk1>
      <a:lt1>
        <a:srgbClr val="FFFFFF"/>
      </a:lt1>
      <a:dk2>
        <a:srgbClr val="0F2A4A"/>
      </a:dk2>
      <a:lt2>
        <a:srgbClr val="EEF3FA"/>
      </a:lt2>
      <a:accent1>
        <a:srgbClr val="1E60AE"/>
      </a:accent1>
      <a:accent2>
        <a:srgbClr val="FEF200"/>
      </a:accent2>
      <a:accent3>
        <a:srgbClr val="1F8A5B"/>
      </a:accent3>
      <a:accent4>
        <a:srgbClr val="C2372D"/>
      </a:accent4>
      <a:accent5>
        <a:srgbClr val="C27C0E"/>
      </a:accent5>
      <a:accent6>
        <a:srgbClr val="667085"/>
      </a:accent6>
      <a:hlink>
        <a:srgbClr val="1E60AE"/>
      </a:hlink>
      <a:folHlink>
        <a:srgbClr val="0F3F7A"/>
      </a:folHlink>
    </a:clrScheme>
    <a:fontScheme name="GPHA GIA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Ghana Ports and Harbours Authority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GIAW Training</dc:title>
  <dc:subject>PptxGenJS Presentation</dc:subject>
  <dc:creator>GPHA Internal Audit Department</dc:creator>
  <cp:lastModifiedBy>GPHA Internal Audit Department</cp:lastModifiedBy>
  <cp:revision>1</cp:revision>
  <dcterms:created xsi:type="dcterms:W3CDTF">2026-10-16T01:57:20Z</dcterms:created>
  <dcterms:modified xsi:type="dcterms:W3CDTF">2026-10-16T01:57:20Z</dcterms:modified>
</cp:coreProperties>
</file>