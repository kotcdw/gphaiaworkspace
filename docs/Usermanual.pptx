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c305bc2-f3bc-82e9-c7f9-c8fcf31f35bd}">
          <p14:sldIdLst>
            <p14:sldId id="256"/>
            <p14:sldId id="257"/>
            <p14:sldId id="258"/>
            <p14:sldId id="259"/>
          </p14:sldIdLst>
        </p14:section>
        <p14:section name="Who does what" id="{d8afb770-24f0-0878-c5d7-2f08598bce32}">
          <p14:sldIdLst>
            <p14:sldId id="260"/>
            <p14:sldId id="261"/>
            <p14:sldId id="262"/>
            <p14:sldId id="263"/>
            <p14:sldId id="264"/>
          </p14:sldIdLst>
        </p14:section>
        <p14:section name="Getting started" id="{99607308-33b9-b09e-0814-f8167497e78f}">
          <p14:sldIdLst>
            <p14:sldId id="265"/>
            <p14:sldId id="266"/>
            <p14:sldId id="267"/>
            <p14:sldId id="268"/>
          </p14:sldIdLst>
        </p14:section>
        <p14:section name="Plan the year" id="{fb8b4813-9cd9-d039-69f2-4a6aff2afc87}">
          <p14:sldIdLst>
            <p14:sldId id="269"/>
            <p14:sldId id="270"/>
            <p14:sldId id="271"/>
            <p14:sldId id="272"/>
          </p14:sldIdLst>
        </p14:section>
        <p14:section name="Perform the audit" id="{4a9c82f7-6f21-5bea-6a7c-8482cc3535e6}">
          <p14:sldIdLst>
            <p14:sldId id="273"/>
            <p14:sldId id="274"/>
            <p14:sldId id="275"/>
            <p14:sldId id="276"/>
            <p14:sldId id="277"/>
          </p14:sldIdLst>
        </p14:section>
        <p14:section name="Report and follow up" id="{588a3874-7515-3aec-1cd9-a1f05932014e}">
          <p14:sldIdLst>
            <p14:sldId id="278"/>
            <p14:sldId id="279"/>
            <p14:sldId id="280"/>
            <p14:sldId id="281"/>
          </p14:sldIdLst>
        </p14:section>
        <p14:section name="Governance and quality" id="{37fb918f-aaff-37bf-f016-4fad157b29da}">
          <p14:sldIdLst>
            <p14:sldId id="282"/>
            <p14:sldId id="283"/>
            <p14:sldId id="284"/>
          </p14:sldIdLst>
        </p14:section>
        <p14:section name="Auditees and quick reference" id="{f5e338b1-73fa-e077-9931-4334ea77059c}">
          <p14:sldIdLst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docs/Usermanual.docx. Each slide points to the chapter of the Word manual that gives the full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TITLE">
    <p:bg>
      <p:bgPr>
        <a:solidFill>
          <a:srgbClr val="0B2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SECTION">
    <p:bg>
      <p:bgPr>
        <a:solidFill>
          <a:srgbClr val="1F4E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GPHA Internal Audit Workspace · User Manual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User Manual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How the GPHA Internal Audit Workspace works and how each user works in it · Version 3.0,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holds the whole internal audit cycle in one place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 and perform audits: memo, risks and controls, tests, evidence, findings and the report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016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Managers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plan, teams, reviews and sign-offs, report approval, follow-up and dashboards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737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Auditees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list of what Internal Audit needs, with a button for each item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4584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18288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 Committee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Meeting packs, decisions on recommendations and risk acceptances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Aligned with the IIA Global Internal Audit Standards, Act 658, Act 921 and L.I. 1994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GIAW works: nine stages, each feeding the next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Define auditable entities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Other providers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Risk assessment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Score and rank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Plan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distribute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Engagement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Plan, perform, review</a:t>
            </a:r>
            <a:endParaRPr lang="en-US" sz="1300" dirty="0"/>
          </a:p>
        </p:txBody>
      </p:sp>
      <p:sp>
        <p:nvSpPr>
          <p:cNvPr id="18" name="flow1"/>
          <p:cNvSpPr/>
          <p:nvPr/>
        </p:nvSpPr>
        <p:spPr>
          <a:xfrm>
            <a:off x="548640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chain and issue</a:t>
            </a:r>
            <a:endParaRPr lang="en-US" sz="1300" dirty="0"/>
          </a:p>
        </p:txBody>
      </p:sp>
      <p:sp>
        <p:nvSpPr>
          <p:cNvPr id="21" name="flow2"/>
          <p:cNvSpPr/>
          <p:nvPr/>
        </p:nvSpPr>
        <p:spPr>
          <a:xfrm>
            <a:off x="3363392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3120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Follow-up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3120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Implement and validate</a:t>
            </a:r>
            <a:endParaRPr lang="en-US" sz="1300" dirty="0"/>
          </a:p>
        </p:txBody>
      </p:sp>
      <p:sp>
        <p:nvSpPr>
          <p:cNvPr id="24" name="flow3"/>
          <p:cNvSpPr/>
          <p:nvPr/>
        </p:nvSpPr>
        <p:spPr>
          <a:xfrm>
            <a:off x="6178144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7872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87872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Committee and IAA</a:t>
            </a:r>
            <a:endParaRPr lang="en-US" sz="1300" dirty="0"/>
          </a:p>
        </p:txBody>
      </p:sp>
      <p:sp>
        <p:nvSpPr>
          <p:cNvPr id="27" name="flow4"/>
          <p:cNvSpPr/>
          <p:nvPr/>
        </p:nvSpPr>
        <p:spPr>
          <a:xfrm>
            <a:off x="8992895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02623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02623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QAIP and practice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Information is entered once and reused: the plan comes from the risk assessment, the report from the findings, the follow-up from the agreed actions.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built into every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72768"/>
            <a:ext cx="374904" cy="374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Roles and permissions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 see only the apps, records and buttons your role allows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72768"/>
            <a:ext cx="374904" cy="3749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Segregation of duties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13232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reviews, approves or closes their own work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3580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Electronic signatures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Approvals record who, what, when and the comment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35808"/>
            <a:ext cx="374904" cy="3749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3232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Gates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13232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Fieldwork waits for the approved memo and declarations; closure waits for every check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498848"/>
            <a:ext cx="374904" cy="37490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Unchangeable history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46304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history, activity logs and follow-up timelines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21792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98848"/>
            <a:ext cx="374904" cy="37490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3232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Never-lost forms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713232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Drafts are saved as you type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assignment, review, report and follow-up chains · Manual chapter 2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chain: how work reaches people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Planner names the Lead auditor on each engagement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created; lead and starter join the team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Lead adds Auditors and Reviewers; auditees get access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Work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Procedures and tests Assigned to team members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Preparer signs, names the Next Reviewer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owners are notified when the issue is published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 owners come from the issue owner or the Responsible officer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Evidence requests go to an auditee on Auditees with access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assigned to you appears in My work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approval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Prepare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Checklist, universe review, managers' meeting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Engagements; Submit for internal review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GM Audit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 (e-sign) or Return with comments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submission and decision; version frozen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IAA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Sites acknowledge receipt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Engagements become audits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Steps run in order. The preparer never approves. Changes after approval go through a plan change request: requester › another manager endorses › GM Audit signs › Committee for significant changes.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gates and the sign-off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Memo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Approved by Audit Manager, PIA or GM Audit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425141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4869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Declarations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34869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member: annual and engagement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4301642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1370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 Progress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1370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Move to opens fieldwork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6178144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7872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Preparer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87872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Sign-off; set Next Reviewer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8054645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64373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64373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Detail, General and further levels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9931146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40874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40874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GM Audit: Close (e-sign)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520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signs two levels or their own work. A signed page is read-only; removing a sign-off removes the later 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Create draft report; Edit report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to management; comments 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Unit Head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Unit Head (e-sign)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 Manager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as Audit Manager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PIA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PIA (e-sign)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&amp; issue (e-sign)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copy sent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Any reviewer can Reject (return for rework): the report goes back to Draft. A chain reviewer cannot also give the GM Audit approval. Corrections: Correct › Open version N+1.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Sign in, find your way and use lists, forms and approvals · Manual chapters 3 and 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</a:t>
            </a:r>
            <a:endParaRPr lang="en-US" sz="3200" dirty="0"/>
          </a:p>
        </p:txBody>
      </p:sp>
      <p:pic>
        <p:nvPicPr>
          <p:cNvPr id="3" name="screenshot" descr="/tmp/claude-0/giaw/docs/manuals/images/01-sign-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371600"/>
            <a:ext cx="5577840" cy="34861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42646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GIAW address in Edge or Chrome</a:t>
            </a:r>
            <a:endParaRPr lang="en-US" sz="1500" dirty="0"/>
          </a:p>
        </p:txBody>
      </p:sp>
      <p:sp>
        <p:nvSpPr>
          <p:cNvPr id="7" name="step2"/>
          <p:cNvSpPr/>
          <p:nvPr/>
        </p:nvSpPr>
        <p:spPr>
          <a:xfrm>
            <a:off x="5486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9339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username and password</a:t>
            </a:r>
            <a:endParaRPr lang="en-US" sz="1500" dirty="0"/>
          </a:p>
        </p:txBody>
      </p:sp>
      <p:sp>
        <p:nvSpPr>
          <p:cNvPr id="10" name="step3"/>
          <p:cNvSpPr/>
          <p:nvPr/>
        </p:nvSpPr>
        <p:spPr>
          <a:xfrm>
            <a:off x="54864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5603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the 6-digit code if two-step verification is on</a:t>
            </a:r>
            <a:endParaRPr lang="en-US" sz="1500" dirty="0"/>
          </a:p>
        </p:txBody>
      </p:sp>
      <p:sp>
        <p:nvSpPr>
          <p:cNvPr id="13" name="step4"/>
          <p:cNvSpPr/>
          <p:nvPr/>
        </p:nvSpPr>
        <p:spPr>
          <a:xfrm>
            <a:off x="54864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312724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Five wrong passwords lock the account for 15 minutes</a:t>
            </a:r>
            <a:endParaRPr lang="en-US" sz="1500" dirty="0"/>
          </a:p>
        </p:txBody>
      </p:sp>
      <p:sp>
        <p:nvSpPr>
          <p:cNvPr id="16" name="step5"/>
          <p:cNvSpPr/>
          <p:nvPr/>
        </p:nvSpPr>
        <p:spPr>
          <a:xfrm>
            <a:off x="54864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369417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Idle sessions sign out automatically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your way</a:t>
            </a:r>
            <a:endParaRPr lang="en-US" sz="3200" dirty="0"/>
          </a:p>
        </p:txBody>
      </p:sp>
      <p:pic>
        <p:nvPicPr>
          <p:cNvPr id="3" name="screenshot" descr="/tmp/claude-0/giaw/docs/manuals/images/02-workspace-ap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Sidebar: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 groups; Workspace Apps and My work at the top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Search ( / ):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audits, issues, actions,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Bell: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notifications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Pencil: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My Drafts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My work: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steps waiting for you, with due dates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? Help: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help for the current page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Lists, forms and approvals work the same everywhere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Lists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Search, filter, sort by column, choose columns, export to Excel or CSV, save views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Required fields marked *, plain-language errors, automatic drafts you can restore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Approvals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Electronic signatures; you cannot approve your own work; every change is kept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the year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universe, assurance map, risk assessment and the Assurance Plan · Manual chapters 5 and 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universe: define what can be audited</a:t>
            </a:r>
            <a:endParaRPr lang="en-US" sz="3200" dirty="0"/>
          </a:p>
        </p:txBody>
      </p:sp>
      <p:pic>
        <p:nvPicPr>
          <p:cNvPr id="3" name="screenshot" descr="/tmp/claude-0/giaw/docs/manuals/images/12-univer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Units: include or exclude, with a reason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Processes: map to the units that perform them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Entities: define scope, owner, units and processes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Ready to send an entity to risk assessment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 map: record other providers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 map: who else gives assurance (IIA 9.5)</a:t>
            </a:r>
            <a:endParaRPr lang="en-US" sz="3200" dirty="0"/>
          </a:p>
        </p:txBody>
      </p:sp>
      <p:pic>
        <p:nvPicPr>
          <p:cNvPr id="3" name="screenshot" descr="/tmp/claude-0/giaw/docs/manuals/images/57-assurance-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line, second line and external providers per entity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provider's latest result and date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Reliance None, Partial or Full, with a recorded basis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Entities with no assurance stand out for planning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providers with New provider; coverage on the entity's Assurance tab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risk assessment to an approved plan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Rate Ready entities on the factors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Engagements, quarters, hours, leads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GM Audit approves or returns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on the plan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Frozen copy;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HQ and ports acknowledge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Each engagement becomes an audit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794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Changing an approved plan: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through a plan change request, with the resource and coverage impact, an independent reviewer, the GM Audit's approval and, when significant, the Audit Committee.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 the audit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Team and independence, planning, fieldwork, evidence and findings · Manual chapter 7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page brings everything together</a:t>
            </a:r>
            <a:endParaRPr lang="en-US" sz="3200" dirty="0"/>
          </a:p>
        </p:txBody>
      </p:sp>
      <p:pic>
        <p:nvPicPr>
          <p:cNvPr id="3" name="screenshot" descr="/tmp/claude-0/giaw/docs/manuals/images/04-audit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Tabs: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Dashboard, Planning, Fieldwork, Reviews, Results, Issues, Progress, Requests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Dashboard: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scope, auditees, team, declarations, closure readiness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Status: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Planned, In Progress, Review, Closed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Nature: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Assurance or Advisory, from the audit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member declares independence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Declarations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declaration plus one per engagement, for every member of the team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Rotation flag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lead has led the same entity for 3 consecutive years (setting)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Cooling-off flag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member worked in an audited unit within 12 months (setting)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 flagged member declares the conflict; a reviewer clears it with safeguards or reassigns the member.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fieldwork and evidence</a:t>
            </a:r>
            <a:endParaRPr lang="en-US" sz="3200" dirty="0"/>
          </a:p>
        </p:txBody>
      </p:sp>
      <p:pic>
        <p:nvPicPr>
          <p:cNvPr id="3" name="screenshot" descr="/tmp/claude-0/giaw/docs/manuals/images/06-audit-field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Planning memo approved; engagement letter sent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and control matrix per objective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Walkthroughs and tests with samples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 evidence; accept or return it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Sign off each page; reviewers clear notes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follow criteria, condition, cause and effect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should be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Condition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Cause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Why it happened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Effect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it means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Recommendation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to do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Issues stay internal until you Publish them (the draft report also publishes them)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Management gives a response, responsible officer and target date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agreed remediation action is raised from the issue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Advisory work records observations; actions are optional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and follow up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report workflow, corrections, follow-up and risk acceptance · Manual chapters 8 and 9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report: from draft to issued copy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Team writes; findings pulled in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Comments within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 chain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Unit Head, Manager, PIA sign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issue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each copy (Act 658 s.16)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642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548640" cy="548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64592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Correcting an issued report (IIA 11.4)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062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GM Audit selects Correct and records the error. The issued version is frozen under Earlier versions; the report returns to Draft as the next version, is approved again, and everyone who had the old copy is listed as due the corrected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Follow-up: implement, validate, close</a:t>
            </a:r>
            <a:endParaRPr lang="en-US" sz="3200" dirty="0"/>
          </a:p>
        </p:txBody>
      </p:sp>
      <p:pic>
        <p:nvPicPr>
          <p:cNvPr id="3" name="screenshot" descr="/tmp/claude-0/giaw/docs/manuals/images/22-re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 records progress and evidence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different auditor validates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Authorised manager or Committee closes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Overdue actions escalate automatically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Quarterly report and annual s.88 statement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acceptance is escalated (IIA 11.5)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Propose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Follow-up manager: who accepts and why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3363392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3120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3120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Discusses with senior management; agrees or not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6178144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7872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87872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Decides High-severity acceptances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8992895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02623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02623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closes as Risk Accepted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the acceptance is not agreed at any step, the action stays open for implementation. The severities that go to the Committee are a setting.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and quality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Committee, analytics, professional practice and QAIP · Manual chapters 10 and 11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Committee and governance</a:t>
            </a:r>
            <a:endParaRPr lang="en-US" sz="3200" dirty="0"/>
          </a:p>
        </p:txBody>
      </p:sp>
      <p:pic>
        <p:nvPicPr>
          <p:cNvPr id="3" name="screenshot" descr="/tmp/claude-0/giaw/docs/manuals/images/35-audit-committ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Committee pack: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delivery, reports, findings, overdue actions (Word)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Meetings: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attendance, quorum, minutes locked on approval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Decisions: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close, withdraw, extend, escalate, accept or reject a risk acceptance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Governance portal: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approved plans and issued reports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practice and quality</a:t>
            </a:r>
            <a:endParaRPr lang="en-US" sz="3200" dirty="0"/>
          </a:p>
        </p:txBody>
      </p:sp>
      <p:pic>
        <p:nvPicPr>
          <p:cNvPr id="3" name="screenshot" descr="/tmp/claude-0/giaw/docs/manuals/images/60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Annual and engagement declarations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CPD hours, certifications and previous roles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Charter approval and external assessment (5-yearly)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Engagement quality reviews and auditee surveys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Yearly QAIP summary and internal assessment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auditees: everything starts in Priorities</a:t>
            </a:r>
            <a:endParaRPr lang="en-US" sz="3200" dirty="0"/>
          </a:p>
        </p:txBody>
      </p:sp>
      <p:pic>
        <p:nvPicPr>
          <p:cNvPr id="3" name="screenshot" descr="/tmp/claude-0/giaw/docs/manuals/images/51-auditee-priorit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3807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Task Tracker › Priorities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1984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4767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evidence and Submit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5117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146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 on the draft report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18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 to published issues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6850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4845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Update actions with evidence</a:t>
            </a:r>
            <a:endParaRPr lang="en-US" sz="1400" dirty="0"/>
          </a:p>
        </p:txBody>
      </p:sp>
      <p:sp>
        <p:nvSpPr>
          <p:cNvPr id="19" name="step6"/>
          <p:cNvSpPr/>
          <p:nvPr/>
        </p:nvSpPr>
        <p:spPr>
          <a:xfrm>
            <a:off x="818388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21538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Complete the survey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by role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My work and Priorities daily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Declare for each engagement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RCM, tests, sign-offs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Evidence and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Validate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5848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Manager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Prepare the plan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Allocate teams; check flags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and clear notes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the report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audits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GM Audit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Approve plan and changes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Issue and correct reports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Decide risk acceptances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Committee packs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Charter and EQA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70264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Auditee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Priorities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evidence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Respond to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Update actions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Survey and attestations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help?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Use ? Help on any page · Full steps in docs/Usermanual.docx · Access and accounts: your GIAW administrator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AW">
  <a:themeElements>
    <a:clrScheme name="GIAW">
      <a:dk1>
        <a:srgbClr val="1B2433"/>
      </a:dk1>
      <a:lt1>
        <a:srgbClr val="FFFFFF"/>
      </a:lt1>
      <a:dk2>
        <a:srgbClr val="0B2A5B"/>
      </a:dk2>
      <a:lt2>
        <a:srgbClr val="EEF3FA"/>
      </a:lt2>
      <a:accent1>
        <a:srgbClr val="1F4E9C"/>
      </a:accent1>
      <a:accent2>
        <a:srgbClr val="F2B705"/>
      </a:accent2>
      <a:accent3>
        <a:srgbClr val="1E8E5A"/>
      </a:accent3>
      <a:accent4>
        <a:srgbClr val="C2372D"/>
      </a:accent4>
      <a:accent5>
        <a:srgbClr val="5B7DB8"/>
      </a:accent5>
      <a:accent6>
        <a:srgbClr val="6B7A90"/>
      </a:accent6>
      <a:hlink>
        <a:srgbClr val="1F4E9C"/>
      </a:hlink>
      <a:folHlink>
        <a:srgbClr val="5B7DB8"/>
      </a:folHlink>
    </a:clrScheme>
    <a:fontScheme name="GIA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Ghana Ports and Harbours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GIAW User Manual</dc:title>
  <dc:subject>PptxGenJS Presentation</dc:subject>
  <dc:creator>GPHA Internal Audit Department</dc:creator>
  <cp:lastModifiedBy>GPHA Internal Audit Department</cp:lastModifiedBy>
  <cp:revision>1</cp:revision>
  <dcterms:created xsi:type="dcterms:W3CDTF">2026-10-19T18:20:36Z</dcterms:created>
  <dcterms:modified xsi:type="dcterms:W3CDTF">2026-10-19T18:20:36Z</dcterms:modified>
</cp:coreProperties>
</file>